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ecddc1905b43de" /><Relationship Type="http://schemas.openxmlformats.org/officeDocument/2006/relationships/extended-properties" Target="/docProps/app.xml" Id="Rf3c74c5a11844d91" /><Relationship Type="http://schemas.openxmlformats.org/officeDocument/2006/relationships/officeDocument" Target="/ppt/presentation.xml" Id="Re12b4b5665f147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aa8aac2304636"/>
  </p:sldMasterIdLst>
  <p:notesMasterIdLst>
    <p:notesMasterId xmlns:r="http://schemas.openxmlformats.org/officeDocument/2006/relationships" r:id="Rfed33d98958f4b8d"/>
  </p:notesMasterIdLst>
  <p:sldIdLst>
    <p:sldId xmlns:r="http://schemas.openxmlformats.org/officeDocument/2006/relationships" id="256" r:id="R8d3cad9e70a34b9a"/>
    <p:sldId xmlns:r="http://schemas.openxmlformats.org/officeDocument/2006/relationships" id="257" r:id="Rd0865aac308c4173"/>
    <p:sldId xmlns:r="http://schemas.openxmlformats.org/officeDocument/2006/relationships" id="258" r:id="Rfde4d5b2040d4bc6"/>
    <p:sldId xmlns:r="http://schemas.openxmlformats.org/officeDocument/2006/relationships" id="259" r:id="R13dba52d01dc4437"/>
    <p:sldId xmlns:r="http://schemas.openxmlformats.org/officeDocument/2006/relationships" id="260" r:id="Rc5ba5409b9a24b91"/>
    <p:sldId xmlns:r="http://schemas.openxmlformats.org/officeDocument/2006/relationships" id="261" r:id="R293da3ed31f74ecb"/>
    <p:sldId xmlns:r="http://schemas.openxmlformats.org/officeDocument/2006/relationships" id="262" r:id="R1c7d9d38a40043d5"/>
    <p:sldId xmlns:r="http://schemas.openxmlformats.org/officeDocument/2006/relationships" id="263" r:id="Rbd4ceb4644f74f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8406a88ffd4d02" /><Relationship Type="http://schemas.openxmlformats.org/officeDocument/2006/relationships/slideMaster" Target="/ppt/slideMasters/slideMaster1.xml" Id="Reeeaa8aac2304636" /><Relationship Type="http://schemas.openxmlformats.org/officeDocument/2006/relationships/notesMaster" Target="/ppt/notesMasters/notesMaster1.xml" Id="Rfed33d98958f4b8d" /><Relationship Type="http://schemas.openxmlformats.org/officeDocument/2006/relationships/presProps" Target="/ppt/presProps.xml" Id="R8b56cefd46eb4c7b" /><Relationship Type="http://schemas.openxmlformats.org/officeDocument/2006/relationships/tableStyles" Target="/ppt/tableStyles.xml" Id="R0c449835a5ba4e50" /><Relationship Type="http://schemas.openxmlformats.org/officeDocument/2006/relationships/slide" Target="/ppt/slides/slide1.xml" Id="R8d3cad9e70a34b9a" /><Relationship Type="http://schemas.openxmlformats.org/officeDocument/2006/relationships/slide" Target="/ppt/slides/slide2.xml" Id="Rd0865aac308c4173" /><Relationship Type="http://schemas.openxmlformats.org/officeDocument/2006/relationships/slide" Target="/ppt/slides/slide3.xml" Id="Rfde4d5b2040d4bc6" /><Relationship Type="http://schemas.openxmlformats.org/officeDocument/2006/relationships/slide" Target="/ppt/slides/slide4.xml" Id="R13dba52d01dc4437" /><Relationship Type="http://schemas.openxmlformats.org/officeDocument/2006/relationships/slide" Target="/ppt/slides/slide5.xml" Id="Rc5ba5409b9a24b91" /><Relationship Type="http://schemas.openxmlformats.org/officeDocument/2006/relationships/slide" Target="/ppt/slides/slide6.xml" Id="R293da3ed31f74ecb" /><Relationship Type="http://schemas.openxmlformats.org/officeDocument/2006/relationships/slide" Target="/ppt/slides/slide7.xml" Id="R1c7d9d38a40043d5" /><Relationship Type="http://schemas.openxmlformats.org/officeDocument/2006/relationships/slide" Target="/ppt/slides/slide8.xml" Id="Rbd4ceb4644f74f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46581a28d74d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d16d6c38d342d2" /><Relationship Type="http://schemas.openxmlformats.org/officeDocument/2006/relationships/notesMaster" Target="/ppt/notesMasters/notesMaster1.xml" Id="R279fc3d3e52846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2d4534ee304bba" /><Relationship Type="http://schemas.openxmlformats.org/officeDocument/2006/relationships/notesMaster" Target="/ppt/notesMasters/notesMaster1.xml" Id="R2a93dc2bf9e54e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bdebc382ba48c6" /><Relationship Type="http://schemas.openxmlformats.org/officeDocument/2006/relationships/notesMaster" Target="/ppt/notesMasters/notesMaster1.xml" Id="R1d058852e4cd4b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7f1eceb0d24842" /><Relationship Type="http://schemas.openxmlformats.org/officeDocument/2006/relationships/notesMaster" Target="/ppt/notesMasters/notesMaster1.xml" Id="R025410d0ef984b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e1f069f18443c3" /><Relationship Type="http://schemas.openxmlformats.org/officeDocument/2006/relationships/notesMaster" Target="/ppt/notesMasters/notesMaster1.xml" Id="R8cbe9d7f1dba4d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8fbb4eb88c4736" /><Relationship Type="http://schemas.openxmlformats.org/officeDocument/2006/relationships/notesMaster" Target="/ppt/notesMasters/notesMaster1.xml" Id="R67f94668f51743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5104a78d364444" /><Relationship Type="http://schemas.openxmlformats.org/officeDocument/2006/relationships/notesMaster" Target="/ppt/notesMasters/notesMaster1.xml" Id="Rb03ca602762d49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752e88f0d4465b" /><Relationship Type="http://schemas.openxmlformats.org/officeDocument/2006/relationships/notesMaster" Target="/ppt/notesMasters/notesMaster1.xml" Id="R6e09b7b90b844c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7a26c2ebb43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997c44544541f0" /><Relationship Type="http://schemas.openxmlformats.org/officeDocument/2006/relationships/slideLayout" Target="/ppt/slideLayouts/slideLayout1.xml" Id="Rd528a016752544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28a016752544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bd71b7c354709" /><Relationship Type="http://schemas.openxmlformats.org/officeDocument/2006/relationships/image" Target="/ppt/media/image.png" Id="Rdf4b7f8a1210470d" /><Relationship Type="http://schemas.openxmlformats.org/officeDocument/2006/relationships/notesSlide" Target="/ppt/notesSlides/notesSlide1.xml" Id="R13949e5043ee49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a1aad30b145f8" /><Relationship Type="http://schemas.openxmlformats.org/officeDocument/2006/relationships/notesSlide" Target="/ppt/notesSlides/notesSlide2.xml" Id="R6aaef2e57a0f48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f4e70c209433f" /><Relationship Type="http://schemas.openxmlformats.org/officeDocument/2006/relationships/notesSlide" Target="/ppt/notesSlides/notesSlide3.xml" Id="R05378ee978a349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f803e5b3b4647" /><Relationship Type="http://schemas.openxmlformats.org/officeDocument/2006/relationships/notesSlide" Target="/ppt/notesSlides/notesSlide4.xml" Id="Rf1d18c031dff4f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32ce01bc44821" /><Relationship Type="http://schemas.openxmlformats.org/officeDocument/2006/relationships/notesSlide" Target="/ppt/notesSlides/notesSlide5.xml" Id="R3a787a7ebeed4d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d8b450a8e4f87" /><Relationship Type="http://schemas.openxmlformats.org/officeDocument/2006/relationships/notesSlide" Target="/ppt/notesSlides/notesSlide6.xml" Id="R8ae741dfe36b4b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61057e2cb45f2" /><Relationship Type="http://schemas.openxmlformats.org/officeDocument/2006/relationships/notesSlide" Target="/ppt/notesSlides/notesSlide7.xml" Id="R8ac367d7eabe4a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0810776234d42" /><Relationship Type="http://schemas.openxmlformats.org/officeDocument/2006/relationships/notesSlide" Target="/ppt/notesSlides/notesSlide8.xml" Id="R1ffa56321a4e46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750FCBF0-05B5-4D0B-A880-8002C6D3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LUMI / 2026.08</a:t>
            </a:r>
          </a:p>
        </p:txBody>
      </p:sp>
      <p:cxnSp>
        <p:nvCxnSpPr>
          <p:cNvPr id="11" name="line-2"/>
          <p:cNvCxnSpPr/>
          <p:nvPr/>
        </p:nvCxnSpPr>
        <p:spPr>
          <a:xfrm xmlns:a="http://schemas.openxmlformats.org/drawingml/2006/main">
            <a:off x="590550" y="9144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7FF"/>
            </a:solidFill>
            <a:prstDash val="solid"/>
          </a:ln>
        </p:spPr>
      </p:cxn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DE516BE-563F-49A3-9C83-6180B816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Lumi 项目管理系统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DA4AB27-E2AF-442E-ABB7-52918582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把项目推进变成看得见、管得住的执行过程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E82E08B-5ED4-4BAA-AE5D-F3FB1E4E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生产型项目管理系统 / 3 分钟工作汇报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B0F6788-11B9-4A02-B412-08E721F9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1714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  <a:p xmlns:a="http://schemas.openxmlformats.org/drawingml/2006/main">
            <a:pPr algn="l">
              <a:defRPr sz="255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  <a:p xmlns:a="http://schemas.openxmlformats.org/drawingml/2006/main">
            <a:pPr algn="l">
              <a:defRPr sz="255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  <a:p xmlns:a="http://schemas.openxmlformats.org/drawingml/2006/main">
            <a:pPr algn="l">
              <a:defRPr sz="255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cxnSp>
        <p:nvCxnSpPr>
          <p:cNvPr id="16" name="line-7"/>
          <p:cNvCxnSpPr/>
          <p:nvPr/>
        </p:nvCxnSpPr>
        <p:spPr>
          <a:xfrm xmlns:a="http://schemas.openxmlformats.org/drawingml/2006/main">
            <a:off x="8248650" y="1790700"/>
            <a:ext cx="0" cy="2286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FE3F5"/>
            </a:solidFill>
            <a:prstDash val="solid"/>
          </a:ln>
        </p:spPr>
      </p:cxn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b7f8a1210470d"/>
          <a:stretch xmlns:a="http://schemas.openxmlformats.org/drawingml/2006/main"/>
        </p:blipFill>
        <p:spPr>
          <a:xfrm xmlns:a="http://schemas.openxmlformats.org/drawingml/2006/main">
            <a:off x="9941620" y="4324350"/>
            <a:ext cx="135751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7292FAD-1709-45C6-817F-E2299632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4950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9">
            <a:extLst xmlns:a="http://schemas.openxmlformats.org/drawingml/2006/main">
              <a:ext uri="{FF2B5EF4-FFF2-40B4-BE49-F238E27FC236}">
                <a16:creationId xmlns:a16="http://schemas.microsoft.com/office/drawing/2014/main" id="{BF89FC71-3884-456B-ACDB-5ECCF8BD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LUMI / PROJECT MANAGEMENT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F115F218-A073-49DA-A6E4-4AE87546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项目管理的难点，不是没有表格，而是没有统一的项目状态</a:t>
            </a:r>
          </a:p>
        </p:txBody>
      </p:sp>
      <p:cxnSp>
        <p:nvCxnSpPr>
          <p:cNvPr id="22" name="line-11"/>
          <p:cNvCxnSpPr/>
          <p:nvPr/>
        </p:nvCxnSpPr>
        <p:spPr>
          <a:xfrm xmlns:a="http://schemas.openxmlformats.org/drawingml/2006/main">
            <a:off x="514350" y="12668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F5A23D5A-7A70-4CFA-A5F5-C7C4FFEC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B12BA453-D7ED-4D49-B8BE-2B4648CF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当项目分散在多张表、多个群和不同岗位的记忆里，</a:t>
            </a:r>
          </a:p>
          <a:p xmlns:a="http://schemas.openxmlformats.org/drawingml/2006/main">
            <a:pPr algn="l">
              <a:def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管理者看到的往往是结果，而不是过程。</a:t>
            </a:r>
          </a:p>
        </p:txBody>
      </p:sp>
      <p:cxnSp>
        <p:nvCxnSpPr>
          <p:cNvPr id="25" name="line-14"/>
          <p:cNvCxnSpPr/>
          <p:nvPr/>
        </p:nvCxnSpPr>
        <p:spPr>
          <a:xfrm xmlns:a="http://schemas.openxmlformats.org/drawingml/2006/main">
            <a:off x="6477000" y="1781175"/>
            <a:ext cx="0" cy="3409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7" name="circle-15">
            <a:extLst xmlns:a="http://schemas.openxmlformats.org/drawingml/2006/main">
              <a:ext uri="{FF2B5EF4-FFF2-40B4-BE49-F238E27FC236}">
                <a16:creationId xmlns:a16="http://schemas.microsoft.com/office/drawing/2014/main" id="{85A49585-F142-4BAC-93ED-85BF4C49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90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7C00B5C5-6975-47F6-8F02-2322A6E6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88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状态散落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4DFF6B6A-8BC3-42A7-88A3-FC6AB712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47875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项目做到哪一步，需要逐个询问或翻找表格。</a:t>
            </a:r>
          </a:p>
        </p:txBody>
      </p:sp>
      <p:sp>
        <p:nvSpPr>
          <p:cNvPr id="10" name="circle-18">
            <a:extLst xmlns:a="http://schemas.openxmlformats.org/drawingml/2006/main">
              <a:ext uri="{FF2B5EF4-FFF2-40B4-BE49-F238E27FC236}">
                <a16:creationId xmlns:a16="http://schemas.microsoft.com/office/drawing/2014/main" id="{4B0C314B-3D08-48D3-8162-1E9963B2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9">
            <a:extLst xmlns:a="http://schemas.openxmlformats.org/drawingml/2006/main">
              <a:ext uri="{FF2B5EF4-FFF2-40B4-BE49-F238E27FC236}">
                <a16:creationId xmlns:a16="http://schemas.microsoft.com/office/drawing/2014/main" id="{B8A67594-BFF3-4DD7-A4FC-C5AD2DE2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43200"/>
            <a:ext cx="388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责任断点</a:t>
            </a:r>
          </a:p>
        </p:txBody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101FB7BC-DE63-480F-B209-0F50724C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阶段负责人、协作关系和下一步动作不够清晰。</a:t>
            </a:r>
          </a:p>
        </p:txBody>
      </p:sp>
      <p:sp>
        <p:nvSpPr>
          <p:cNvPr id="13" name="circle-21">
            <a:extLst xmlns:a="http://schemas.openxmlformats.org/drawingml/2006/main">
              <a:ext uri="{FF2B5EF4-FFF2-40B4-BE49-F238E27FC236}">
                <a16:creationId xmlns:a16="http://schemas.microsoft.com/office/drawing/2014/main" id="{948ADE19-1453-4986-81F4-95B2347B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BE51D3CD-834C-4C4B-87CE-3E39D541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43325"/>
            <a:ext cx="388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预警滞后</a:t>
            </a:r>
          </a:p>
        </p:txBody>
      </p:sp>
      <p:sp>
        <p:nvSpPr>
          <p:cNvPr id="15" name="text-23">
            <a:extLst xmlns:a="http://schemas.openxmlformats.org/drawingml/2006/main">
              <a:ext uri="{FF2B5EF4-FFF2-40B4-BE49-F238E27FC236}">
                <a16:creationId xmlns:a16="http://schemas.microsoft.com/office/drawing/2014/main" id="{E621E67B-0792-4360-B6B0-E4E56A06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交期、逾期和缺少关键资料，往往在问题发生后才被发现。</a:t>
            </a:r>
          </a:p>
        </p:txBody>
      </p:sp>
      <p:sp>
        <p:nvSpPr>
          <p:cNvPr id="16" name="circle-24">
            <a:extLst xmlns:a="http://schemas.openxmlformats.org/drawingml/2006/main">
              <a:ext uri="{FF2B5EF4-FFF2-40B4-BE49-F238E27FC236}">
                <a16:creationId xmlns:a16="http://schemas.microsoft.com/office/drawing/2014/main" id="{8D733C97-8E4D-48C8-B99B-F406E7C9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D6872185-0171-4B4E-92B2-32473EE7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43450"/>
            <a:ext cx="388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收款脱节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66443FE3-62DE-4EA7-A379-724C51A9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482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项目执行进度与尾款节点没有放在同一条项目主线上。</a:t>
            </a:r>
          </a:p>
        </p:txBody>
      </p:sp>
      <p:sp>
        <p:nvSpPr>
          <p:cNvPr id="19" name="text-27">
            <a:extLst xmlns:a="http://schemas.openxmlformats.org/drawingml/2006/main">
              <a:ext uri="{FF2B5EF4-FFF2-40B4-BE49-F238E27FC236}">
                <a16:creationId xmlns:a16="http://schemas.microsoft.com/office/drawing/2014/main" id="{364536B0-9BD2-4281-A8CD-A537079B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531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核心判断：需要的不是更多字段，而是一套围绕项目主线的统一工作入口。</a:t>
            </a:r>
          </a:p>
        </p:txBody>
      </p:sp>
    </p:spTree>
    <p:extLst>
      <p:ext uri="{BB962C8B-B14F-4D97-AF65-F5344CB8AC3E}">
        <p14:creationId xmlns:p14="http://schemas.microsoft.com/office/powerpoint/2010/main" val="893089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28">
            <a:extLst xmlns:a="http://schemas.openxmlformats.org/drawingml/2006/main">
              <a:ext uri="{FF2B5EF4-FFF2-40B4-BE49-F238E27FC236}">
                <a16:creationId xmlns:a16="http://schemas.microsoft.com/office/drawing/2014/main" id="{3B3E200F-8994-453D-A779-C2B94343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LUMI / PROJECT MANAGEMENT</a:t>
            </a:r>
          </a:p>
        </p:txBody>
      </p:sp>
      <p:sp>
        <p:nvSpPr>
          <p:cNvPr id="2" name="text-29">
            <a:extLst xmlns:a="http://schemas.openxmlformats.org/drawingml/2006/main">
              <a:ext uri="{FF2B5EF4-FFF2-40B4-BE49-F238E27FC236}">
                <a16:creationId xmlns:a16="http://schemas.microsoft.com/office/drawing/2014/main" id="{FB7FFA89-7C44-4FE0-8BCC-3E4B6723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把一个项目，拆成一条可追踪的执行链</a:t>
            </a:r>
          </a:p>
        </p:txBody>
      </p:sp>
      <p:cxnSp>
        <p:nvCxnSpPr>
          <p:cNvPr id="28" name="line-30"/>
          <p:cNvCxnSpPr/>
          <p:nvPr/>
        </p:nvCxnSpPr>
        <p:spPr>
          <a:xfrm xmlns:a="http://schemas.openxmlformats.org/drawingml/2006/main">
            <a:off x="514350" y="12668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text-31">
            <a:extLst xmlns:a="http://schemas.openxmlformats.org/drawingml/2006/main">
              <a:ext uri="{FF2B5EF4-FFF2-40B4-BE49-F238E27FC236}">
                <a16:creationId xmlns:a16="http://schemas.microsoft.com/office/drawing/2014/main" id="{E55D2441-A229-4EA0-863B-98FC4BF8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-32">
            <a:extLst xmlns:a="http://schemas.openxmlformats.org/drawingml/2006/main">
              <a:ext uri="{FF2B5EF4-FFF2-40B4-BE49-F238E27FC236}">
                <a16:creationId xmlns:a16="http://schemas.microsoft.com/office/drawing/2014/main" id="{4A9F04EA-0B3D-46DF-90F4-383E6C96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项目不再只是一个订单编号，而是由阶段、责任人、状态、时间和风险共同组成的执行对象。</a:t>
            </a:r>
          </a:p>
        </p:txBody>
      </p:sp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C6A3E55E-C60F-428B-AF62-DB132799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项目主线</a:t>
            </a:r>
          </a:p>
        </p:txBody>
      </p:sp>
      <p:cxnSp>
        <p:nvCxnSpPr>
          <p:cNvPr id="32" name="line-34"/>
          <p:cNvCxnSpPr/>
          <p:nvPr/>
        </p:nvCxnSpPr>
        <p:spPr>
          <a:xfrm xmlns:a="http://schemas.openxmlformats.org/drawingml/2006/main">
            <a:off x="914400" y="32766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8" name="circle-35">
            <a:extLst xmlns:a="http://schemas.openxmlformats.org/drawingml/2006/main">
              <a:ext uri="{FF2B5EF4-FFF2-40B4-BE49-F238E27FC236}">
                <a16:creationId xmlns:a16="http://schemas.microsoft.com/office/drawing/2014/main" id="{657672A3-E576-4564-A705-79A5E7AE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36">
            <a:extLst xmlns:a="http://schemas.openxmlformats.org/drawingml/2006/main">
              <a:ext uri="{FF2B5EF4-FFF2-40B4-BE49-F238E27FC236}">
                <a16:creationId xmlns:a16="http://schemas.microsoft.com/office/drawing/2014/main" id="{A33D109C-24F1-46B6-8577-1781F519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机械设计</a:t>
            </a:r>
          </a:p>
        </p:txBody>
      </p:sp>
      <p:sp>
        <p:nvSpPr>
          <p:cNvPr id="10" name="box-37">
            <a:extLst xmlns:a="http://schemas.openxmlformats.org/drawingml/2006/main">
              <a:ext uri="{FF2B5EF4-FFF2-40B4-BE49-F238E27FC236}">
                <a16:creationId xmlns:a16="http://schemas.microsoft.com/office/drawing/2014/main" id="{DD457DC6-06D3-489C-B590-AC929CB3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497CA55F-9A18-4DB8-815B-4A22861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62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负责人 / 图纸状态</a:t>
            </a:r>
          </a:p>
        </p:txBody>
      </p:sp>
      <p:sp>
        <p:nvSpPr>
          <p:cNvPr id="12" name="circle-39">
            <a:extLst xmlns:a="http://schemas.openxmlformats.org/drawingml/2006/main">
              <a:ext uri="{FF2B5EF4-FFF2-40B4-BE49-F238E27FC236}">
                <a16:creationId xmlns:a16="http://schemas.microsoft.com/office/drawing/2014/main" id="{B18A6C7B-87E2-42DD-B2E6-CC980D96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14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0">
            <a:extLst xmlns:a="http://schemas.openxmlformats.org/drawingml/2006/main">
              <a:ext uri="{FF2B5EF4-FFF2-40B4-BE49-F238E27FC236}">
                <a16:creationId xmlns:a16="http://schemas.microsoft.com/office/drawing/2014/main" id="{FD91C49D-1E08-43FD-BD73-88DD28D2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052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14" name="box-41">
            <a:extLst xmlns:a="http://schemas.openxmlformats.org/drawingml/2006/main">
              <a:ext uri="{FF2B5EF4-FFF2-40B4-BE49-F238E27FC236}">
                <a16:creationId xmlns:a16="http://schemas.microsoft.com/office/drawing/2014/main" id="{75357571-9207-44D1-98AA-4D3E3FBF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529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solidFill>
              <a:srgbClr val="F3F5F7"/>
            </a:solidFill>
            <a:prstDash val="solid"/>
          </a:ln>
        </p:spPr>
      </p:sp>
      <p:sp>
        <p:nvSpPr>
          <p:cNvPr id="15" name="text-42">
            <a:extLst xmlns:a="http://schemas.openxmlformats.org/drawingml/2006/main">
              <a:ext uri="{FF2B5EF4-FFF2-40B4-BE49-F238E27FC236}">
                <a16:creationId xmlns:a16="http://schemas.microsoft.com/office/drawing/2014/main" id="{1D5E8E59-AC00-4457-9424-3E74560D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62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执行人 / 发货节点</a:t>
            </a:r>
          </a:p>
        </p:txBody>
      </p:sp>
      <p:sp>
        <p:nvSpPr>
          <p:cNvPr id="16" name="circle-43">
            <a:extLst xmlns:a="http://schemas.openxmlformats.org/drawingml/2006/main">
              <a:ext uri="{FF2B5EF4-FFF2-40B4-BE49-F238E27FC236}">
                <a16:creationId xmlns:a16="http://schemas.microsoft.com/office/drawing/2014/main" id="{71513BDD-3F54-4DE7-B2C1-5A60ECD8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14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44">
            <a:extLst xmlns:a="http://schemas.openxmlformats.org/drawingml/2006/main">
              <a:ext uri="{FF2B5EF4-FFF2-40B4-BE49-F238E27FC236}">
                <a16:creationId xmlns:a16="http://schemas.microsoft.com/office/drawing/2014/main" id="{F6890C14-8EA8-4EFB-BC0A-1B0FE785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052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调机</a:t>
            </a:r>
          </a:p>
        </p:txBody>
      </p:sp>
      <p:sp>
        <p:nvSpPr>
          <p:cNvPr id="18" name="box-45">
            <a:extLst xmlns:a="http://schemas.openxmlformats.org/drawingml/2006/main">
              <a:ext uri="{FF2B5EF4-FFF2-40B4-BE49-F238E27FC236}">
                <a16:creationId xmlns:a16="http://schemas.microsoft.com/office/drawing/2014/main" id="{2FDB2506-D599-4C15-A0DB-BE7C0AEC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529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E4"/>
          </a:solidFill>
          <a:ln xmlns:a="http://schemas.openxmlformats.org/drawingml/2006/main" w="0">
            <a:solidFill>
              <a:srgbClr val="FFF1E4"/>
            </a:solidFill>
            <a:prstDash val="solid"/>
          </a:ln>
        </p:spPr>
      </p:sp>
      <p:sp>
        <p:nvSpPr>
          <p:cNvPr id="19" name="text-46">
            <a:extLst xmlns:a="http://schemas.openxmlformats.org/drawingml/2006/main">
              <a:ext uri="{FF2B5EF4-FFF2-40B4-BE49-F238E27FC236}">
                <a16:creationId xmlns:a16="http://schemas.microsoft.com/office/drawing/2014/main" id="{8EDD12B7-C012-4058-BDC9-3D7AADC0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362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安调进度 / 整改</a:t>
            </a:r>
          </a:p>
        </p:txBody>
      </p:sp>
      <p:sp>
        <p:nvSpPr>
          <p:cNvPr id="20" name="circle-47">
            <a:extLst xmlns:a="http://schemas.openxmlformats.org/drawingml/2006/main">
              <a:ext uri="{FF2B5EF4-FFF2-40B4-BE49-F238E27FC236}">
                <a16:creationId xmlns:a16="http://schemas.microsoft.com/office/drawing/2014/main" id="{3429D696-04CE-4049-A52C-157139E3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14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48">
            <a:extLst xmlns:a="http://schemas.openxmlformats.org/drawingml/2006/main">
              <a:ext uri="{FF2B5EF4-FFF2-40B4-BE49-F238E27FC236}">
                <a16:creationId xmlns:a16="http://schemas.microsoft.com/office/drawing/2014/main" id="{B098B622-9559-49FE-8D0B-E95A6BFD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705225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尾款</a:t>
            </a:r>
          </a:p>
        </p:txBody>
      </p:sp>
      <p:sp>
        <p:nvSpPr>
          <p:cNvPr id="22" name="box-49">
            <a:extLst xmlns:a="http://schemas.openxmlformats.org/drawingml/2006/main">
              <a:ext uri="{FF2B5EF4-FFF2-40B4-BE49-F238E27FC236}">
                <a16:creationId xmlns:a16="http://schemas.microsoft.com/office/drawing/2014/main" id="{12D6AAA1-E467-46BF-B34D-33D5F288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1529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solidFill>
              <a:srgbClr val="E4F4EB"/>
            </a:solidFill>
            <a:prstDash val="solid"/>
          </a:ln>
        </p:spPr>
      </p:sp>
      <p:sp>
        <p:nvSpPr>
          <p:cNvPr id="23" name="text-50">
            <a:extLst xmlns:a="http://schemas.openxmlformats.org/drawingml/2006/main">
              <a:ext uri="{FF2B5EF4-FFF2-40B4-BE49-F238E27FC236}">
                <a16:creationId xmlns:a16="http://schemas.microsoft.com/office/drawing/2014/main" id="{D2637D78-2070-4772-8393-73BBDDEA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收款比例 / 到期提醒</a:t>
            </a:r>
          </a:p>
        </p:txBody>
      </p:sp>
      <p:sp>
        <p:nvSpPr>
          <p:cNvPr id="24" name="text-51">
            <a:extLst xmlns:a="http://schemas.openxmlformats.org/drawingml/2006/main">
              <a:ext uri="{FF2B5EF4-FFF2-40B4-BE49-F238E27FC236}">
                <a16:creationId xmlns:a16="http://schemas.microsoft.com/office/drawing/2014/main" id="{A4751E27-312F-45C7-886B-A007BBDB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每个阶段都回答三个问题：现在到哪了？谁负责？下一步是什么？</a:t>
            </a:r>
          </a:p>
        </p:txBody>
      </p:sp>
      <p:sp>
        <p:nvSpPr>
          <p:cNvPr id="25" name="text-52">
            <a:extLst xmlns:a="http://schemas.openxmlformats.org/drawingml/2006/main">
              <a:ext uri="{FF2B5EF4-FFF2-40B4-BE49-F238E27FC236}">
                <a16:creationId xmlns:a16="http://schemas.microsoft.com/office/drawing/2014/main" id="{17068E9D-3679-491A-9A74-90ABA05C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531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系统把项目推进从“靠人记”变成“按状态推进”。</a:t>
            </a:r>
          </a:p>
        </p:txBody>
      </p:sp>
    </p:spTree>
    <p:extLst>
      <p:ext uri="{BB962C8B-B14F-4D97-AF65-F5344CB8AC3E}">
        <p14:creationId xmlns:p14="http://schemas.microsoft.com/office/powerpoint/2010/main" val="2014735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53">
            <a:extLst xmlns:a="http://schemas.openxmlformats.org/drawingml/2006/main">
              <a:ext uri="{FF2B5EF4-FFF2-40B4-BE49-F238E27FC236}">
                <a16:creationId xmlns:a16="http://schemas.microsoft.com/office/drawing/2014/main" id="{CAD62905-F657-47E7-A740-DED487CF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LUMI / PROJECT MANAGEMENT</a:t>
            </a:r>
          </a:p>
        </p:txBody>
      </p:sp>
      <p:sp>
        <p:nvSpPr>
          <p:cNvPr id="2" name="text-54">
            <a:extLst xmlns:a="http://schemas.openxmlformats.org/drawingml/2006/main">
              <a:ext uri="{FF2B5EF4-FFF2-40B4-BE49-F238E27FC236}">
                <a16:creationId xmlns:a16="http://schemas.microsoft.com/office/drawing/2014/main" id="{AC025796-4AE7-4833-A996-238DDB53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同一个项目，不同角色看到的是不同的“下一步”</a:t>
            </a:r>
          </a:p>
        </p:txBody>
      </p:sp>
      <p:cxnSp>
        <p:nvCxnSpPr>
          <p:cNvPr id="26" name="line-55"/>
          <p:cNvCxnSpPr/>
          <p:nvPr/>
        </p:nvCxnSpPr>
        <p:spPr>
          <a:xfrm xmlns:a="http://schemas.openxmlformats.org/drawingml/2006/main">
            <a:off x="514350" y="12668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text-56">
            <a:extLst xmlns:a="http://schemas.openxmlformats.org/drawingml/2006/main">
              <a:ext uri="{FF2B5EF4-FFF2-40B4-BE49-F238E27FC236}">
                <a16:creationId xmlns:a16="http://schemas.microsoft.com/office/drawing/2014/main" id="{B1C522A1-4A89-463D-9554-87B8B8C1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-57">
            <a:extLst xmlns:a="http://schemas.openxmlformats.org/drawingml/2006/main">
              <a:ext uri="{FF2B5EF4-FFF2-40B4-BE49-F238E27FC236}">
                <a16:creationId xmlns:a16="http://schemas.microsoft.com/office/drawing/2014/main" id="{8D0E6591-D436-4751-9A35-F1C898B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角色看板不是把所有人放进同一张表，而是让每个岗位从自己的责任边界出发工作。</a:t>
            </a:r>
          </a:p>
        </p:txBody>
      </p:sp>
      <p:sp>
        <p:nvSpPr>
          <p:cNvPr id="6" name="box-58">
            <a:extLst xmlns:a="http://schemas.openxmlformats.org/drawingml/2006/main">
              <a:ext uri="{FF2B5EF4-FFF2-40B4-BE49-F238E27FC236}">
                <a16:creationId xmlns:a16="http://schemas.microsoft.com/office/drawing/2014/main" id="{C8BA1720-BF35-4803-857A-562AC0AE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1E4"/>
          </a:solidFill>
          <a:ln xmlns:a="http://schemas.openxmlformats.org/drawingml/2006/main" w="0">
            <a:solidFill>
              <a:srgbClr val="FFF1E4"/>
            </a:solidFill>
            <a:prstDash val="solid"/>
          </a:ln>
        </p:spPr>
      </p:sp>
      <p:sp>
        <p:nvSpPr>
          <p:cNvPr id="7" name="text-59">
            <a:extLst xmlns:a="http://schemas.openxmlformats.org/drawingml/2006/main">
              <a:ext uri="{FF2B5EF4-FFF2-40B4-BE49-F238E27FC236}">
                <a16:creationId xmlns:a16="http://schemas.microsoft.com/office/drawing/2014/main" id="{D81E15BE-F3A0-4D8C-A2D2-CC684A71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6B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D46B08"/>
                </a:solidFill>
                <a:latin typeface="Microsoft YaHei"/>
                <a:ea typeface="Microsoft YaHei"/>
                <a:cs typeface="Microsoft YaHei"/>
              </a:rPr>
              <a:t>主管工作台</a:t>
            </a:r>
          </a:p>
        </p:txBody>
      </p:sp>
      <p:cxnSp>
        <p:nvCxnSpPr>
          <p:cNvPr id="31" name="line-60"/>
          <p:cNvCxnSpPr/>
          <p:nvPr/>
        </p:nvCxnSpPr>
        <p:spPr>
          <a:xfrm xmlns:a="http://schemas.openxmlformats.org/drawingml/2006/main">
            <a:off x="2895600" y="24955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9" name="text-61">
            <a:extLst xmlns:a="http://schemas.openxmlformats.org/drawingml/2006/main">
              <a:ext uri="{FF2B5EF4-FFF2-40B4-BE49-F238E27FC236}">
                <a16:creationId xmlns:a16="http://schemas.microsoft.com/office/drawing/2014/main" id="{E96C3525-4D93-4109-88F5-A1CEDA7B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看预警、看缺失分配、看阶段是否有人负责</a:t>
            </a:r>
          </a:p>
        </p:txBody>
      </p:sp>
      <p:sp>
        <p:nvSpPr>
          <p:cNvPr id="10" name="box-62">
            <a:extLst xmlns:a="http://schemas.openxmlformats.org/drawingml/2006/main">
              <a:ext uri="{FF2B5EF4-FFF2-40B4-BE49-F238E27FC236}">
                <a16:creationId xmlns:a16="http://schemas.microsoft.com/office/drawing/2014/main" id="{F6A1C8C9-10FC-4E03-9F5D-47A3A82B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1" name="text-63">
            <a:extLst xmlns:a="http://schemas.openxmlformats.org/drawingml/2006/main">
              <a:ext uri="{FF2B5EF4-FFF2-40B4-BE49-F238E27FC236}">
                <a16:creationId xmlns:a16="http://schemas.microsoft.com/office/drawing/2014/main" id="{3ACC8B5C-D1DC-4ECE-ADA1-08E01651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执行人工作台</a:t>
            </a:r>
          </a:p>
        </p:txBody>
      </p:sp>
      <p:cxnSp>
        <p:nvCxnSpPr>
          <p:cNvPr id="35" name="line-64"/>
          <p:cNvCxnSpPr/>
          <p:nvPr/>
        </p:nvCxnSpPr>
        <p:spPr>
          <a:xfrm xmlns:a="http://schemas.openxmlformats.org/drawingml/2006/main">
            <a:off x="2895600" y="33718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13" name="text-65">
            <a:extLst xmlns:a="http://schemas.openxmlformats.org/drawingml/2006/main">
              <a:ext uri="{FF2B5EF4-FFF2-40B4-BE49-F238E27FC236}">
                <a16:creationId xmlns:a16="http://schemas.microsoft.com/office/drawing/2014/main" id="{7CBAAAD7-4F10-4B32-AD62-48BEE908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04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只看自己被分配的项目与工序，直接更新状态</a:t>
            </a:r>
          </a:p>
        </p:txBody>
      </p:sp>
      <p:sp>
        <p:nvSpPr>
          <p:cNvPr id="14" name="box-66">
            <a:extLst xmlns:a="http://schemas.openxmlformats.org/drawingml/2006/main">
              <a:ext uri="{FF2B5EF4-FFF2-40B4-BE49-F238E27FC236}">
                <a16:creationId xmlns:a16="http://schemas.microsoft.com/office/drawing/2014/main" id="{F536AAE7-257D-4619-97AF-04D12B7F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solidFill>
              <a:srgbClr val="E4F4EB"/>
            </a:solidFill>
            <a:prstDash val="solid"/>
          </a:ln>
        </p:spPr>
      </p:sp>
      <p:sp>
        <p:nvSpPr>
          <p:cNvPr id="15" name="text-67">
            <a:extLst xmlns:a="http://schemas.openxmlformats.org/drawingml/2006/main">
              <a:ext uri="{FF2B5EF4-FFF2-40B4-BE49-F238E27FC236}">
                <a16:creationId xmlns:a16="http://schemas.microsoft.com/office/drawing/2014/main" id="{AB3F4F2A-A3E9-461A-B6AB-E5237456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rPr>
              <a:t>销售 / PM 工作台</a:t>
            </a:r>
          </a:p>
        </p:txBody>
      </p:sp>
      <p:cxnSp>
        <p:nvCxnSpPr>
          <p:cNvPr id="39" name="line-68"/>
          <p:cNvCxnSpPr/>
          <p:nvPr/>
        </p:nvCxnSpPr>
        <p:spPr>
          <a:xfrm xmlns:a="http://schemas.openxmlformats.org/drawingml/2006/main">
            <a:off x="2895600" y="42481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17" name="text-69">
            <a:extLst xmlns:a="http://schemas.openxmlformats.org/drawingml/2006/main">
              <a:ext uri="{FF2B5EF4-FFF2-40B4-BE49-F238E27FC236}">
                <a16:creationId xmlns:a16="http://schemas.microsoft.com/office/drawing/2014/main" id="{B6E41703-E474-4151-97F0-4B6377E3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767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销售关注建项与收款，PM关注项目整体推进</a:t>
            </a:r>
          </a:p>
        </p:txBody>
      </p:sp>
      <p:sp>
        <p:nvSpPr>
          <p:cNvPr id="18" name="box-70">
            <a:extLst xmlns:a="http://schemas.openxmlformats.org/drawingml/2006/main">
              <a:ext uri="{FF2B5EF4-FFF2-40B4-BE49-F238E27FC236}">
                <a16:creationId xmlns:a16="http://schemas.microsoft.com/office/drawing/2014/main" id="{F53FC980-235B-4690-A08A-15991BB2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38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solidFill>
              <a:srgbClr val="F3F5F7"/>
            </a:solidFill>
            <a:prstDash val="solid"/>
          </a:ln>
        </p:spPr>
      </p:sp>
      <p:sp>
        <p:nvSpPr>
          <p:cNvPr id="19" name="text-71">
            <a:extLst xmlns:a="http://schemas.openxmlformats.org/drawingml/2006/main">
              <a:ext uri="{FF2B5EF4-FFF2-40B4-BE49-F238E27FC236}">
                <a16:creationId xmlns:a16="http://schemas.microsoft.com/office/drawing/2014/main" id="{85EB30AC-4FC8-40EE-9D7B-55979388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管理员 / 售后 / 软件</a:t>
            </a:r>
          </a:p>
        </p:txBody>
      </p:sp>
      <p:cxnSp>
        <p:nvCxnSpPr>
          <p:cNvPr id="43" name="line-72"/>
          <p:cNvCxnSpPr/>
          <p:nvPr/>
        </p:nvCxnSpPr>
        <p:spPr>
          <a:xfrm xmlns:a="http://schemas.openxmlformats.org/drawingml/2006/main">
            <a:off x="2895600" y="51244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21" name="text-73">
            <a:extLst xmlns:a="http://schemas.openxmlformats.org/drawingml/2006/main">
              <a:ext uri="{FF2B5EF4-FFF2-40B4-BE49-F238E27FC236}">
                <a16:creationId xmlns:a16="http://schemas.microsoft.com/office/drawing/2014/main" id="{FB989E92-CB95-43EB-B8BA-9DE56244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53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看全局、看后段项目、跨阶段协作</a:t>
            </a:r>
          </a:p>
        </p:txBody>
      </p:sp>
      <p:sp>
        <p:nvSpPr>
          <p:cNvPr id="22" name="text-74">
            <a:extLst xmlns:a="http://schemas.openxmlformats.org/drawingml/2006/main">
              <a:ext uri="{FF2B5EF4-FFF2-40B4-BE49-F238E27FC236}">
                <a16:creationId xmlns:a16="http://schemas.microsoft.com/office/drawing/2014/main" id="{419857C6-51E6-4826-909F-49AB77E2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rPr>
              <a:t>7 类工作台 · 11 个角色定义 · 同一套项目数据</a:t>
            </a:r>
          </a:p>
        </p:txBody>
      </p:sp>
      <p:sp>
        <p:nvSpPr>
          <p:cNvPr id="23" name="text-75">
            <a:extLst xmlns:a="http://schemas.openxmlformats.org/drawingml/2006/main">
              <a:ext uri="{FF2B5EF4-FFF2-40B4-BE49-F238E27FC236}">
                <a16:creationId xmlns:a16="http://schemas.microsoft.com/office/drawing/2014/main" id="{97F0033C-6A7D-4536-A981-2A46D40D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531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核心价值：减少无效询问，让每个角色打开系统就知道该关注什么。</a:t>
            </a:r>
          </a:p>
        </p:txBody>
      </p:sp>
    </p:spTree>
    <p:extLst>
      <p:ext uri="{BB962C8B-B14F-4D97-AF65-F5344CB8AC3E}">
        <p14:creationId xmlns:p14="http://schemas.microsoft.com/office/powerpoint/2010/main" val="1837257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ext-76">
            <a:extLst xmlns:a="http://schemas.openxmlformats.org/drawingml/2006/main">
              <a:ext uri="{FF2B5EF4-FFF2-40B4-BE49-F238E27FC236}">
                <a16:creationId xmlns:a16="http://schemas.microsoft.com/office/drawing/2014/main" id="{310F1EBE-8833-426B-B805-D1B3FFD4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LUMI / PROJECT MANAGEMENT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F6F5D6E2-492A-46C9-80F8-624FBF17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项目卡片，把复杂项目压缩成一次扫读</a:t>
            </a:r>
          </a:p>
        </p:txBody>
      </p:sp>
      <p:cxnSp>
        <p:nvCxnSpPr>
          <p:cNvPr id="47" name="line-78"/>
          <p:cNvCxnSpPr/>
          <p:nvPr/>
        </p:nvCxnSpPr>
        <p:spPr>
          <a:xfrm xmlns:a="http://schemas.openxmlformats.org/drawingml/2006/main">
            <a:off x="514350" y="12668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1AA66497-A8D0-4B19-B29B-A8D4AF4C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156E1E81-CB7E-46F8-915B-837D3BFB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卡片是日常管理的最小单元：先判断项目是否正常，再决定是否进入项目主页处理。</a:t>
            </a:r>
          </a:p>
        </p:txBody>
      </p:sp>
      <p:sp>
        <p:nvSpPr>
          <p:cNvPr id="6" name="box-81">
            <a:extLst xmlns:a="http://schemas.openxmlformats.org/drawingml/2006/main">
              <a:ext uri="{FF2B5EF4-FFF2-40B4-BE49-F238E27FC236}">
                <a16:creationId xmlns:a16="http://schemas.microsoft.com/office/drawing/2014/main" id="{425ED7DC-6B28-4163-896A-D3CDBE05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762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21004FF8-B7B7-4105-B32C-AF0D9D94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PZ-2026-001</a:t>
            </a:r>
          </a:p>
        </p:txBody>
      </p:sp>
      <p:sp>
        <p:nvSpPr>
          <p:cNvPr id="8" name="text-83">
            <a:extLst xmlns:a="http://schemas.openxmlformats.org/drawingml/2006/main">
              <a:ext uri="{FF2B5EF4-FFF2-40B4-BE49-F238E27FC236}">
                <a16:creationId xmlns:a16="http://schemas.microsoft.com/office/drawing/2014/main" id="{94ADD5B8-219C-4064-A8F7-2FE1D21C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05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PM: 王文哲</a:t>
            </a:r>
          </a:p>
        </p:txBody>
      </p:sp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2BC3256E-64C2-4E29-98CF-A9F6B418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050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rPr>
              <a:t>销售: 李明</a:t>
            </a:r>
          </a:p>
        </p:txBody>
      </p:sp>
      <p:sp>
        <p:nvSpPr>
          <p:cNvPr id="10" name="box-85">
            <a:extLst xmlns:a="http://schemas.openxmlformats.org/drawingml/2006/main">
              <a:ext uri="{FF2B5EF4-FFF2-40B4-BE49-F238E27FC236}">
                <a16:creationId xmlns:a16="http://schemas.microsoft.com/office/drawing/2014/main" id="{D164C3CF-9B6D-42C8-904B-B12AA6A2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288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1" name="text-86">
            <a:extLst xmlns:a="http://schemas.openxmlformats.org/drawingml/2006/main">
              <a:ext uri="{FF2B5EF4-FFF2-40B4-BE49-F238E27FC236}">
                <a16:creationId xmlns:a16="http://schemas.microsoft.com/office/drawing/2014/main" id="{D26DF578-7456-475C-B8B1-2A555A68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669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rPr>
              <a:t>交期剩 18 天</a:t>
            </a:r>
          </a:p>
        </p:txBody>
      </p:sp>
      <p:cxnSp>
        <p:nvCxnSpPr>
          <p:cNvPr id="56" name="line-87"/>
          <p:cNvCxnSpPr/>
          <p:nvPr/>
        </p:nvCxnSpPr>
        <p:spPr>
          <a:xfrm xmlns:a="http://schemas.openxmlformats.org/drawingml/2006/main">
            <a:off x="971550" y="29146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13" name="text-88">
            <a:extLst xmlns:a="http://schemas.openxmlformats.org/drawingml/2006/main">
              <a:ext uri="{FF2B5EF4-FFF2-40B4-BE49-F238E27FC236}">
                <a16:creationId xmlns:a16="http://schemas.microsoft.com/office/drawing/2014/main" id="{CED019CF-5FF8-4975-81F9-6F8F29E4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机械设计</a:t>
            </a:r>
          </a:p>
        </p:txBody>
      </p:sp>
      <p:sp>
        <p:nvSpPr>
          <p:cNvPr id="14" name="box-89">
            <a:extLst xmlns:a="http://schemas.openxmlformats.org/drawingml/2006/main">
              <a:ext uri="{FF2B5EF4-FFF2-40B4-BE49-F238E27FC236}">
                <a16:creationId xmlns:a16="http://schemas.microsoft.com/office/drawing/2014/main" id="{1EF8E4BD-8779-40DA-861F-9F9C1051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0515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solidFill>
              <a:srgbClr val="E4F4EB"/>
            </a:solidFill>
            <a:prstDash val="solid"/>
          </a:ln>
        </p:spPr>
      </p:sp>
      <p:sp>
        <p:nvSpPr>
          <p:cNvPr id="15" name="text-90">
            <a:extLst xmlns:a="http://schemas.openxmlformats.org/drawingml/2006/main">
              <a:ext uri="{FF2B5EF4-FFF2-40B4-BE49-F238E27FC236}">
                <a16:creationId xmlns:a16="http://schemas.microsoft.com/office/drawing/2014/main" id="{4FFEDF4C-719D-44FB-A7CA-331C3DD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432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rPr>
              <a:t>图纸已下发</a:t>
            </a:r>
          </a:p>
        </p:txBody>
      </p:sp>
      <p:sp>
        <p:nvSpPr>
          <p:cNvPr id="16" name="text-91">
            <a:extLst xmlns:a="http://schemas.openxmlformats.org/drawingml/2006/main">
              <a:ext uri="{FF2B5EF4-FFF2-40B4-BE49-F238E27FC236}">
                <a16:creationId xmlns:a16="http://schemas.microsoft.com/office/drawing/2014/main" id="{2066524C-03BC-4672-B794-E64A0E17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王文哲</a:t>
            </a:r>
          </a:p>
        </p:txBody>
      </p:sp>
      <p:sp>
        <p:nvSpPr>
          <p:cNvPr id="17" name="text-92">
            <a:extLst xmlns:a="http://schemas.openxmlformats.org/drawingml/2006/main">
              <a:ext uri="{FF2B5EF4-FFF2-40B4-BE49-F238E27FC236}">
                <a16:creationId xmlns:a16="http://schemas.microsoft.com/office/drawing/2014/main" id="{13E184C7-F134-41BF-8D8A-635A250E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8" name="text-93">
            <a:extLst xmlns:a="http://schemas.openxmlformats.org/drawingml/2006/main">
              <a:ext uri="{FF2B5EF4-FFF2-40B4-BE49-F238E27FC236}">
                <a16:creationId xmlns:a16="http://schemas.microsoft.com/office/drawing/2014/main" id="{220EAECD-7D8C-4C40-B2A4-3BE20F3E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19" name="box-94">
            <a:extLst xmlns:a="http://schemas.openxmlformats.org/drawingml/2006/main">
              <a:ext uri="{FF2B5EF4-FFF2-40B4-BE49-F238E27FC236}">
                <a16:creationId xmlns:a16="http://schemas.microsoft.com/office/drawing/2014/main" id="{63D085D9-B0A2-474A-8A12-3220D617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4330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0" name="text-95">
            <a:extLst xmlns:a="http://schemas.openxmlformats.org/drawingml/2006/main">
              <a:ext uri="{FF2B5EF4-FFF2-40B4-BE49-F238E27FC236}">
                <a16:creationId xmlns:a16="http://schemas.microsoft.com/office/drawing/2014/main" id="{FBD15B45-2139-4175-AB84-225EF3DF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生产中</a:t>
            </a:r>
          </a:p>
        </p:txBody>
      </p:sp>
      <p:sp>
        <p:nvSpPr>
          <p:cNvPr id="21" name="text-96">
            <a:extLst xmlns:a="http://schemas.openxmlformats.org/drawingml/2006/main">
              <a:ext uri="{FF2B5EF4-FFF2-40B4-BE49-F238E27FC236}">
                <a16:creationId xmlns:a16="http://schemas.microsoft.com/office/drawing/2014/main" id="{F44F8B2B-00F7-4FD9-80B1-E4BC6913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张工</a:t>
            </a:r>
          </a:p>
        </p:txBody>
      </p:sp>
      <p:sp>
        <p:nvSpPr>
          <p:cNvPr id="22" name="text-97">
            <a:extLst xmlns:a="http://schemas.openxmlformats.org/drawingml/2006/main">
              <a:ext uri="{FF2B5EF4-FFF2-40B4-BE49-F238E27FC236}">
                <a16:creationId xmlns:a16="http://schemas.microsoft.com/office/drawing/2014/main" id="{A83F48B9-69BE-4804-8B56-7E30753F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剩 12 天</a:t>
            </a:r>
          </a:p>
        </p:txBody>
      </p:sp>
      <p:sp>
        <p:nvSpPr>
          <p:cNvPr id="23" name="text-98">
            <a:extLst xmlns:a="http://schemas.openxmlformats.org/drawingml/2006/main">
              <a:ext uri="{FF2B5EF4-FFF2-40B4-BE49-F238E27FC236}">
                <a16:creationId xmlns:a16="http://schemas.microsoft.com/office/drawing/2014/main" id="{DAE5EA14-7631-40E6-B052-567A447B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调机</a:t>
            </a:r>
          </a:p>
        </p:txBody>
      </p:sp>
      <p:sp>
        <p:nvSpPr>
          <p:cNvPr id="24" name="box-99">
            <a:extLst xmlns:a="http://schemas.openxmlformats.org/drawingml/2006/main">
              <a:ext uri="{FF2B5EF4-FFF2-40B4-BE49-F238E27FC236}">
                <a16:creationId xmlns:a16="http://schemas.microsoft.com/office/drawing/2014/main" id="{F4EE8DC8-09AB-464A-9201-CEF08442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8145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4"/>
          </a:solidFill>
          <a:ln xmlns:a="http://schemas.openxmlformats.org/drawingml/2006/main" w="0">
            <a:solidFill>
              <a:srgbClr val="FFF1E4"/>
            </a:solidFill>
            <a:prstDash val="solid"/>
          </a:ln>
        </p:spPr>
      </p:sp>
      <p:sp>
        <p:nvSpPr>
          <p:cNvPr id="25" name="text-100">
            <a:extLst xmlns:a="http://schemas.openxmlformats.org/drawingml/2006/main">
              <a:ext uri="{FF2B5EF4-FFF2-40B4-BE49-F238E27FC236}">
                <a16:creationId xmlns:a16="http://schemas.microsoft.com/office/drawing/2014/main" id="{4A8C2B56-37FE-4729-99C8-A83BCF41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195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46B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D46B08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6" name="text-101">
            <a:extLst xmlns:a="http://schemas.openxmlformats.org/drawingml/2006/main">
              <a:ext uri="{FF2B5EF4-FFF2-40B4-BE49-F238E27FC236}">
                <a16:creationId xmlns:a16="http://schemas.microsoft.com/office/drawing/2014/main" id="{DC4BC25D-BB0B-48D3-ACD0-EFA86375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待分配</a:t>
            </a:r>
          </a:p>
        </p:txBody>
      </p:sp>
      <p:sp>
        <p:nvSpPr>
          <p:cNvPr id="27" name="text-102">
            <a:extLst xmlns:a="http://schemas.openxmlformats.org/drawingml/2006/main">
              <a:ext uri="{FF2B5EF4-FFF2-40B4-BE49-F238E27FC236}">
                <a16:creationId xmlns:a16="http://schemas.microsoft.com/office/drawing/2014/main" id="{AA16270A-B183-4B29-AF0C-75F95D0A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19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46B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D46B08"/>
                </a:solidFill>
                <a:latin typeface="Microsoft YaHei"/>
                <a:ea typeface="Microsoft YaHei"/>
                <a:cs typeface="Microsoft YaHei"/>
              </a:rPr>
              <a:t>待分配</a:t>
            </a:r>
          </a:p>
        </p:txBody>
      </p:sp>
      <p:cxnSp>
        <p:nvCxnSpPr>
          <p:cNvPr id="72" name="line-103"/>
          <p:cNvCxnSpPr/>
          <p:nvPr/>
        </p:nvCxnSpPr>
        <p:spPr>
          <a:xfrm xmlns:a="http://schemas.openxmlformats.org/drawingml/2006/main">
            <a:off x="971550" y="45148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29" name="text-104">
            <a:extLst xmlns:a="http://schemas.openxmlformats.org/drawingml/2006/main">
              <a:ext uri="{FF2B5EF4-FFF2-40B4-BE49-F238E27FC236}">
                <a16:creationId xmlns:a16="http://schemas.microsoft.com/office/drawing/2014/main" id="{C063D888-AC06-45B7-92BA-291F8779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收款进度</a:t>
            </a:r>
          </a:p>
        </p:txBody>
      </p:sp>
      <p:sp>
        <p:nvSpPr>
          <p:cNvPr id="30" name="box-105">
            <a:extLst xmlns:a="http://schemas.openxmlformats.org/drawingml/2006/main">
              <a:ext uri="{FF2B5EF4-FFF2-40B4-BE49-F238E27FC236}">
                <a16:creationId xmlns:a16="http://schemas.microsoft.com/office/drawing/2014/main" id="{44462B03-7CE9-4CC2-8386-171D37DC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81550"/>
            <a:ext cx="3333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solidFill>
              <a:srgbClr val="F3F5F7"/>
            </a:solidFill>
            <a:prstDash val="solid"/>
          </a:ln>
        </p:spPr>
      </p:sp>
      <p:sp>
        <p:nvSpPr>
          <p:cNvPr id="31" name="box-106">
            <a:extLst xmlns:a="http://schemas.openxmlformats.org/drawingml/2006/main">
              <a:ext uri="{FF2B5EF4-FFF2-40B4-BE49-F238E27FC236}">
                <a16:creationId xmlns:a16="http://schemas.microsoft.com/office/drawing/2014/main" id="{19211BE7-53F3-4B7D-BAA7-4DA66C5A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81550"/>
            <a:ext cx="2333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B63"/>
          </a:solidFill>
          <a:ln xmlns:a="http://schemas.openxmlformats.org/drawingml/2006/main" w="0">
            <a:solidFill>
              <a:srgbClr val="2E9B63"/>
            </a:solidFill>
            <a:prstDash val="solid"/>
          </a:ln>
        </p:spPr>
      </p:sp>
      <p:sp>
        <p:nvSpPr>
          <p:cNvPr id="32" name="text-107">
            <a:extLst xmlns:a="http://schemas.openxmlformats.org/drawingml/2006/main">
              <a:ext uri="{FF2B5EF4-FFF2-40B4-BE49-F238E27FC236}">
                <a16:creationId xmlns:a16="http://schemas.microsoft.com/office/drawing/2014/main" id="{96DF6CBC-C56F-433B-A3CE-5F8398B3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053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33" name="box-108">
            <a:extLst xmlns:a="http://schemas.openxmlformats.org/drawingml/2006/main">
              <a:ext uri="{FF2B5EF4-FFF2-40B4-BE49-F238E27FC236}">
                <a16:creationId xmlns:a16="http://schemas.microsoft.com/office/drawing/2014/main" id="{FA09028D-DC25-41A7-9234-E97397B9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AEA"/>
          </a:solidFill>
          <a:ln xmlns:a="http://schemas.openxmlformats.org/drawingml/2006/main" w="0">
            <a:solidFill>
              <a:srgbClr val="FDEAEA"/>
            </a:solidFill>
            <a:prstDash val="solid"/>
          </a:ln>
        </p:spPr>
      </p:sp>
      <p:sp>
        <p:nvSpPr>
          <p:cNvPr id="34" name="text-109">
            <a:extLst xmlns:a="http://schemas.openxmlformats.org/drawingml/2006/main">
              <a:ext uri="{FF2B5EF4-FFF2-40B4-BE49-F238E27FC236}">
                <a16:creationId xmlns:a16="http://schemas.microsoft.com/office/drawing/2014/main" id="{C008BF43-915C-4F4E-AE51-2D0D770E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339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D4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D43838"/>
                </a:solidFill>
                <a:latin typeface="Microsoft YaHei"/>
                <a:ea typeface="Microsoft YaHei"/>
                <a:cs typeface="Microsoft YaHei"/>
              </a:rPr>
              <a:t>调机待分配</a:t>
            </a:r>
          </a:p>
        </p:txBody>
      </p:sp>
      <p:sp>
        <p:nvSpPr>
          <p:cNvPr id="35" name="circle-110">
            <a:extLst xmlns:a="http://schemas.openxmlformats.org/drawingml/2006/main">
              <a:ext uri="{FF2B5EF4-FFF2-40B4-BE49-F238E27FC236}">
                <a16:creationId xmlns:a16="http://schemas.microsoft.com/office/drawing/2014/main" id="{6A95ADFE-B548-4924-B0AD-D6A1BFED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111">
            <a:extLst xmlns:a="http://schemas.openxmlformats.org/drawingml/2006/main">
              <a:ext uri="{FF2B5EF4-FFF2-40B4-BE49-F238E27FC236}">
                <a16:creationId xmlns:a16="http://schemas.microsoft.com/office/drawing/2014/main" id="{2CF9710C-2554-43E8-9696-8EE2B466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98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看状态</a:t>
            </a:r>
          </a:p>
        </p:txBody>
      </p:sp>
      <p:sp>
        <p:nvSpPr>
          <p:cNvPr id="37" name="text-112">
            <a:extLst xmlns:a="http://schemas.openxmlformats.org/drawingml/2006/main">
              <a:ext uri="{FF2B5EF4-FFF2-40B4-BE49-F238E27FC236}">
                <a16:creationId xmlns:a16="http://schemas.microsoft.com/office/drawing/2014/main" id="{70DD9F08-224C-4855-B436-1623AD75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14625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四个阶段的进度和完成情况同时出现。</a:t>
            </a:r>
          </a:p>
        </p:txBody>
      </p:sp>
      <p:sp>
        <p:nvSpPr>
          <p:cNvPr id="38" name="circle-113">
            <a:extLst xmlns:a="http://schemas.openxmlformats.org/drawingml/2006/main">
              <a:ext uri="{FF2B5EF4-FFF2-40B4-BE49-F238E27FC236}">
                <a16:creationId xmlns:a16="http://schemas.microsoft.com/office/drawing/2014/main" id="{BE1763DC-F864-4BC6-9262-3F76F99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114">
            <a:extLst xmlns:a="http://schemas.openxmlformats.org/drawingml/2006/main">
              <a:ext uri="{FF2B5EF4-FFF2-40B4-BE49-F238E27FC236}">
                <a16:creationId xmlns:a16="http://schemas.microsoft.com/office/drawing/2014/main" id="{85DD2C23-0D96-492E-9D26-652FEA83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0520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看责任</a:t>
            </a:r>
          </a:p>
        </p:txBody>
      </p:sp>
      <p:sp>
        <p:nvSpPr>
          <p:cNvPr id="40" name="text-115">
            <a:extLst xmlns:a="http://schemas.openxmlformats.org/drawingml/2006/main">
              <a:ext uri="{FF2B5EF4-FFF2-40B4-BE49-F238E27FC236}">
                <a16:creationId xmlns:a16="http://schemas.microsoft.com/office/drawing/2014/main" id="{B93EB1FE-2755-448E-95B6-BB0EFAE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每个阶段都能对应到具体负责人。</a:t>
            </a:r>
          </a:p>
        </p:txBody>
      </p:sp>
      <p:sp>
        <p:nvSpPr>
          <p:cNvPr id="41" name="circle-116">
            <a:extLst xmlns:a="http://schemas.openxmlformats.org/drawingml/2006/main">
              <a:ext uri="{FF2B5EF4-FFF2-40B4-BE49-F238E27FC236}">
                <a16:creationId xmlns:a16="http://schemas.microsoft.com/office/drawing/2014/main" id="{41B952D9-2287-4E6B-87C4-2E91308E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117">
            <a:extLst xmlns:a="http://schemas.openxmlformats.org/drawingml/2006/main">
              <a:ext uri="{FF2B5EF4-FFF2-40B4-BE49-F238E27FC236}">
                <a16:creationId xmlns:a16="http://schemas.microsoft.com/office/drawing/2014/main" id="{E1F07B8A-A79F-496F-ABA0-F68B9D87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0057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看风险</a:t>
            </a:r>
          </a:p>
        </p:txBody>
      </p:sp>
      <p:sp>
        <p:nvSpPr>
          <p:cNvPr id="43" name="text-118">
            <a:extLst xmlns:a="http://schemas.openxmlformats.org/drawingml/2006/main">
              <a:ext uri="{FF2B5EF4-FFF2-40B4-BE49-F238E27FC236}">
                <a16:creationId xmlns:a16="http://schemas.microsoft.com/office/drawing/2014/main" id="{B272898B-00BB-43DB-8B2F-09E5E36E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05375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交期、缺失分配和尾款节点提前暴露。</a:t>
            </a:r>
          </a:p>
        </p:txBody>
      </p:sp>
      <p:sp>
        <p:nvSpPr>
          <p:cNvPr id="44" name="text-119">
            <a:extLst xmlns:a="http://schemas.openxmlformats.org/drawingml/2006/main">
              <a:ext uri="{FF2B5EF4-FFF2-40B4-BE49-F238E27FC236}">
                <a16:creationId xmlns:a16="http://schemas.microsoft.com/office/drawing/2014/main" id="{1CEA85C9-475B-4C14-ABE0-16442163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531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项目卡片的目标不是展示更多信息，而是让管理判断更快发生。</a:t>
            </a:r>
          </a:p>
        </p:txBody>
      </p:sp>
    </p:spTree>
    <p:extLst>
      <p:ext uri="{BB962C8B-B14F-4D97-AF65-F5344CB8AC3E}">
        <p14:creationId xmlns:p14="http://schemas.microsoft.com/office/powerpoint/2010/main" val="1792304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20">
            <a:extLst xmlns:a="http://schemas.openxmlformats.org/drawingml/2006/main">
              <a:ext uri="{FF2B5EF4-FFF2-40B4-BE49-F238E27FC236}">
                <a16:creationId xmlns:a16="http://schemas.microsoft.com/office/drawing/2014/main" id="{2BB67E52-2083-4374-A511-8A9FE838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LUMI / PROJECT MANAGEMENT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EC40CDD2-96F2-4716-96EA-9F66CA10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项目主页让“发现问题”直接进入“处理问题”</a:t>
            </a:r>
          </a:p>
        </p:txBody>
      </p:sp>
      <p:cxnSp>
        <p:nvCxnSpPr>
          <p:cNvPr id="31" name="line-122"/>
          <p:cNvCxnSpPr/>
          <p:nvPr/>
        </p:nvCxnSpPr>
        <p:spPr>
          <a:xfrm xmlns:a="http://schemas.openxmlformats.org/drawingml/2006/main">
            <a:off x="514350" y="12668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text-123">
            <a:extLst xmlns:a="http://schemas.openxmlformats.org/drawingml/2006/main">
              <a:ext uri="{FF2B5EF4-FFF2-40B4-BE49-F238E27FC236}">
                <a16:creationId xmlns:a16="http://schemas.microsoft.com/office/drawing/2014/main" id="{70DC5493-8C47-4188-BADD-5E6F40E5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-124">
            <a:extLst xmlns:a="http://schemas.openxmlformats.org/drawingml/2006/main">
              <a:ext uri="{FF2B5EF4-FFF2-40B4-BE49-F238E27FC236}">
                <a16:creationId xmlns:a16="http://schemas.microsoft.com/office/drawing/2014/main" id="{CA04027C-C09A-4163-893C-A2B0C92F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项目卡片负责快速判断，项目主页负责把完整信息、团队和动作放到同一个上下文里。</a:t>
            </a:r>
          </a:p>
        </p:txBody>
      </p:sp>
      <p:sp>
        <p:nvSpPr>
          <p:cNvPr id="6" name="box-125">
            <a:extLst xmlns:a="http://schemas.openxmlformats.org/drawingml/2006/main">
              <a:ext uri="{FF2B5EF4-FFF2-40B4-BE49-F238E27FC236}">
                <a16:creationId xmlns:a16="http://schemas.microsoft.com/office/drawing/2014/main" id="{4FC03392-2D2C-44E2-9DB7-4C73A070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11633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box-126">
            <a:extLst xmlns:a="http://schemas.openxmlformats.org/drawingml/2006/main">
              <a:ext uri="{FF2B5EF4-FFF2-40B4-BE49-F238E27FC236}">
                <a16:creationId xmlns:a16="http://schemas.microsoft.com/office/drawing/2014/main" id="{7C1FE500-36DF-4BA5-AEC3-589F57A3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1163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4DBB"/>
          </a:solidFill>
          <a:ln xmlns:a="http://schemas.openxmlformats.org/drawingml/2006/main" w="0">
            <a:solidFill>
              <a:srgbClr val="0B4DBB"/>
            </a:solidFill>
            <a:prstDash val="solid"/>
          </a:ln>
        </p:spPr>
      </p:sp>
      <p:sp>
        <p:nvSpPr>
          <p:cNvPr id="8" name="text-127">
            <a:extLst xmlns:a="http://schemas.openxmlformats.org/drawingml/2006/main">
              <a:ext uri="{FF2B5EF4-FFF2-40B4-BE49-F238E27FC236}">
                <a16:creationId xmlns:a16="http://schemas.microsoft.com/office/drawing/2014/main" id="{A8B565D5-1109-4573-BBB4-B409E22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PZ-2026-001</a:t>
            </a:r>
          </a:p>
        </p:txBody>
      </p:sp>
      <p:sp>
        <p:nvSpPr>
          <p:cNvPr id="9" name="box-128">
            <a:extLst xmlns:a="http://schemas.openxmlformats.org/drawingml/2006/main">
              <a:ext uri="{FF2B5EF4-FFF2-40B4-BE49-F238E27FC236}">
                <a16:creationId xmlns:a16="http://schemas.microsoft.com/office/drawing/2014/main" id="{1ADA90F6-48F2-4E3E-8F56-762BE743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76475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4EB"/>
          </a:solidFill>
          <a:ln xmlns:a="http://schemas.openxmlformats.org/drawingml/2006/main" w="0">
            <a:solidFill>
              <a:srgbClr val="E4F4EB"/>
            </a:solidFill>
            <a:prstDash val="solid"/>
          </a:ln>
        </p:spPr>
      </p:sp>
      <p:sp>
        <p:nvSpPr>
          <p:cNvPr id="10" name="text-129">
            <a:extLst xmlns:a="http://schemas.openxmlformats.org/drawingml/2006/main">
              <a:ext uri="{FF2B5EF4-FFF2-40B4-BE49-F238E27FC236}">
                <a16:creationId xmlns:a16="http://schemas.microsoft.com/office/drawing/2014/main" id="{AE5791B9-33AD-47FA-B5CF-6EA28B47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145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rPr>
              <a:t>项目正常</a:t>
            </a:r>
          </a:p>
        </p:txBody>
      </p:sp>
      <p:sp>
        <p:nvSpPr>
          <p:cNvPr id="11" name="text-130">
            <a:extLst xmlns:a="http://schemas.openxmlformats.org/drawingml/2006/main">
              <a:ext uri="{FF2B5EF4-FFF2-40B4-BE49-F238E27FC236}">
                <a16:creationId xmlns:a16="http://schemas.microsoft.com/office/drawing/2014/main" id="{68CBB9B8-5CA5-4242-93CB-75F56C8C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12" name="text-131">
            <a:extLst xmlns:a="http://schemas.openxmlformats.org/drawingml/2006/main">
              <a:ext uri="{FF2B5EF4-FFF2-40B4-BE49-F238E27FC236}">
                <a16:creationId xmlns:a16="http://schemas.microsoft.com/office/drawing/2014/main" id="{66ECC422-0FCE-44D6-80D5-43D832CB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设备：关节机器人单元 × 2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立项：2026-06-10   预计交期：2026-07-20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收款进度：70%   技术协议：已上传</a:t>
            </a:r>
          </a:p>
        </p:txBody>
      </p:sp>
      <p:sp>
        <p:nvSpPr>
          <p:cNvPr id="13" name="text-132">
            <a:extLst xmlns:a="http://schemas.openxmlformats.org/drawingml/2006/main">
              <a:ext uri="{FF2B5EF4-FFF2-40B4-BE49-F238E27FC236}">
                <a16:creationId xmlns:a16="http://schemas.microsoft.com/office/drawing/2014/main" id="{DDE0F2FC-C969-4E0A-9AF1-69C91E12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rPr>
              <a:t>项目团队</a:t>
            </a:r>
          </a:p>
        </p:txBody>
      </p:sp>
      <p:sp>
        <p:nvSpPr>
          <p:cNvPr id="14" name="text-133">
            <a:extLst xmlns:a="http://schemas.openxmlformats.org/drawingml/2006/main">
              <a:ext uri="{FF2B5EF4-FFF2-40B4-BE49-F238E27FC236}">
                <a16:creationId xmlns:a16="http://schemas.microsoft.com/office/drawing/2014/main" id="{8986E6E5-A546-461F-A5B3-26A2D0D9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项目经理  王文哲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机械设计  王文哲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生产执行  张工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安调执行  待分配</a:t>
            </a:r>
          </a:p>
        </p:txBody>
      </p:sp>
      <p:sp>
        <p:nvSpPr>
          <p:cNvPr id="15" name="text-134">
            <a:extLst xmlns:a="http://schemas.openxmlformats.org/drawingml/2006/main">
              <a:ext uri="{FF2B5EF4-FFF2-40B4-BE49-F238E27FC236}">
                <a16:creationId xmlns:a16="http://schemas.microsoft.com/office/drawing/2014/main" id="{D9D6DEE7-E2E3-444C-B69E-5DF22782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rPr>
              <a:t>阶段与动作</a:t>
            </a:r>
          </a:p>
        </p:txBody>
      </p:sp>
      <p:sp>
        <p:nvSpPr>
          <p:cNvPr id="16" name="text-135">
            <a:extLst xmlns:a="http://schemas.openxmlformats.org/drawingml/2006/main">
              <a:ext uri="{FF2B5EF4-FFF2-40B4-BE49-F238E27FC236}">
                <a16:creationId xmlns:a16="http://schemas.microsoft.com/office/drawing/2014/main" id="{A3BDB3F2-5ED3-4EAE-A170-034AADE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✓ 机械设计：已完成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→ 生产：进行中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! 调机：需要分配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$ 尾款：70%</a:t>
            </a:r>
          </a:p>
        </p:txBody>
      </p:sp>
      <p:sp>
        <p:nvSpPr>
          <p:cNvPr id="17" name="text-136">
            <a:extLst xmlns:a="http://schemas.openxmlformats.org/drawingml/2006/main">
              <a:ext uri="{FF2B5EF4-FFF2-40B4-BE49-F238E27FC236}">
                <a16:creationId xmlns:a16="http://schemas.microsoft.com/office/drawing/2014/main" id="{8C3489B4-E179-47A3-8E8A-4B173F2E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4DBB"/>
                </a:solidFill>
                <a:latin typeface="Microsoft YaHei"/>
                <a:ea typeface="Microsoft YaHei"/>
                <a:cs typeface="Microsoft YaHei"/>
              </a:rPr>
              <a:t>阶段进度</a:t>
            </a:r>
          </a:p>
        </p:txBody>
      </p:sp>
      <p:cxnSp>
        <p:nvCxnSpPr>
          <p:cNvPr id="46" name="line-137"/>
          <p:cNvCxnSpPr/>
          <p:nvPr/>
        </p:nvCxnSpPr>
        <p:spPr>
          <a:xfrm xmlns:a="http://schemas.openxmlformats.org/drawingml/2006/main">
            <a:off x="1485900" y="49720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EE7"/>
            </a:solidFill>
            <a:prstDash val="solid"/>
          </a:ln>
        </p:spPr>
      </p:cxnSp>
      <p:sp>
        <p:nvSpPr>
          <p:cNvPr id="19" name="circle-138">
            <a:extLst xmlns:a="http://schemas.openxmlformats.org/drawingml/2006/main">
              <a:ext uri="{FF2B5EF4-FFF2-40B4-BE49-F238E27FC236}">
                <a16:creationId xmlns:a16="http://schemas.microsoft.com/office/drawing/2014/main" id="{448F6FFA-98C9-4D8A-BCC4-D4EEA8E3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39">
            <a:extLst xmlns:a="http://schemas.openxmlformats.org/drawingml/2006/main">
              <a:ext uri="{FF2B5EF4-FFF2-40B4-BE49-F238E27FC236}">
                <a16:creationId xmlns:a16="http://schemas.microsoft.com/office/drawing/2014/main" id="{91D60DDE-8C20-4604-A972-6B4390B8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53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机械设计</a:t>
            </a:r>
          </a:p>
        </p:txBody>
      </p:sp>
      <p:sp>
        <p:nvSpPr>
          <p:cNvPr id="21" name="circle-140">
            <a:extLst xmlns:a="http://schemas.openxmlformats.org/drawingml/2006/main">
              <a:ext uri="{FF2B5EF4-FFF2-40B4-BE49-F238E27FC236}">
                <a16:creationId xmlns:a16="http://schemas.microsoft.com/office/drawing/2014/main" id="{312E3A6A-8679-4EE7-9DFA-29BCB309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57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41">
            <a:extLst xmlns:a="http://schemas.openxmlformats.org/drawingml/2006/main">
              <a:ext uri="{FF2B5EF4-FFF2-40B4-BE49-F238E27FC236}">
                <a16:creationId xmlns:a16="http://schemas.microsoft.com/office/drawing/2014/main" id="{AABDB8C7-E3DF-4AE2-B2CB-5A3E0958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153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生产</a:t>
            </a:r>
          </a:p>
        </p:txBody>
      </p:sp>
      <p:sp>
        <p:nvSpPr>
          <p:cNvPr id="23" name="circle-142">
            <a:extLst xmlns:a="http://schemas.openxmlformats.org/drawingml/2006/main">
              <a:ext uri="{FF2B5EF4-FFF2-40B4-BE49-F238E27FC236}">
                <a16:creationId xmlns:a16="http://schemas.microsoft.com/office/drawing/2014/main" id="{F9F61B91-C591-48C1-8A0F-19914B33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B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143">
            <a:extLst xmlns:a="http://schemas.openxmlformats.org/drawingml/2006/main">
              <a:ext uri="{FF2B5EF4-FFF2-40B4-BE49-F238E27FC236}">
                <a16:creationId xmlns:a16="http://schemas.microsoft.com/office/drawing/2014/main" id="{2D892B47-C9B1-46C9-81DA-57842E5F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53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调机</a:t>
            </a:r>
          </a:p>
        </p:txBody>
      </p:sp>
      <p:sp>
        <p:nvSpPr>
          <p:cNvPr id="25" name="circle-144">
            <a:extLst xmlns:a="http://schemas.openxmlformats.org/drawingml/2006/main">
              <a:ext uri="{FF2B5EF4-FFF2-40B4-BE49-F238E27FC236}">
                <a16:creationId xmlns:a16="http://schemas.microsoft.com/office/drawing/2014/main" id="{FCFC717D-8625-4EAB-8C71-B58581AA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57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45">
            <a:extLst xmlns:a="http://schemas.openxmlformats.org/drawingml/2006/main">
              <a:ext uri="{FF2B5EF4-FFF2-40B4-BE49-F238E27FC236}">
                <a16:creationId xmlns:a16="http://schemas.microsoft.com/office/drawing/2014/main" id="{B12395E9-F0F4-4F29-B469-4CB96F54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1530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尾款</a:t>
            </a:r>
          </a:p>
        </p:txBody>
      </p:sp>
      <p:sp>
        <p:nvSpPr>
          <p:cNvPr id="27" name="text-146">
            <a:extLst xmlns:a="http://schemas.openxmlformats.org/drawingml/2006/main">
              <a:ext uri="{FF2B5EF4-FFF2-40B4-BE49-F238E27FC236}">
                <a16:creationId xmlns:a16="http://schemas.microsoft.com/office/drawing/2014/main" id="{18F64565-FBAB-4B25-87BA-7138BAA2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一个页面同时承载：项目事实、团队责任、阶段状态和下一步动作。</a:t>
            </a:r>
          </a:p>
        </p:txBody>
      </p:sp>
      <p:sp>
        <p:nvSpPr>
          <p:cNvPr id="28" name="text-147">
            <a:extLst xmlns:a="http://schemas.openxmlformats.org/drawingml/2006/main">
              <a:ext uri="{FF2B5EF4-FFF2-40B4-BE49-F238E27FC236}">
                <a16:creationId xmlns:a16="http://schemas.microsoft.com/office/drawing/2014/main" id="{E6CCFD51-95CC-4E82-AF5D-78A2D000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531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系统把“信息查看”变成“管理动作的入口”。</a:t>
            </a:r>
          </a:p>
        </p:txBody>
      </p:sp>
    </p:spTree>
    <p:extLst>
      <p:ext uri="{BB962C8B-B14F-4D97-AF65-F5344CB8AC3E}">
        <p14:creationId xmlns:p14="http://schemas.microsoft.com/office/powerpoint/2010/main" val="2089805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48">
            <a:extLst xmlns:a="http://schemas.openxmlformats.org/drawingml/2006/main">
              <a:ext uri="{FF2B5EF4-FFF2-40B4-BE49-F238E27FC236}">
                <a16:creationId xmlns:a16="http://schemas.microsoft.com/office/drawing/2014/main" id="{FF82029C-1830-4931-B98F-D1C33540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LUMI / PROJECT MANAGEMENT</a:t>
            </a:r>
          </a:p>
        </p:txBody>
      </p:sp>
      <p:sp>
        <p:nvSpPr>
          <p:cNvPr id="2" name="text-149">
            <a:extLst xmlns:a="http://schemas.openxmlformats.org/drawingml/2006/main">
              <a:ext uri="{FF2B5EF4-FFF2-40B4-BE49-F238E27FC236}">
                <a16:creationId xmlns:a16="http://schemas.microsoft.com/office/drawing/2014/main" id="{3B92C266-DB48-46F6-843D-2A7FCFA3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工作量不只在页面，更在把管理规则落到系统里</a:t>
            </a:r>
          </a:p>
        </p:txBody>
      </p:sp>
      <p:cxnSp>
        <p:nvCxnSpPr>
          <p:cNvPr id="27" name="line-150"/>
          <p:cNvCxnSpPr/>
          <p:nvPr/>
        </p:nvCxnSpPr>
        <p:spPr>
          <a:xfrm xmlns:a="http://schemas.openxmlformats.org/drawingml/2006/main">
            <a:off x="514350" y="12668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text-151">
            <a:extLst xmlns:a="http://schemas.openxmlformats.org/drawingml/2006/main">
              <a:ext uri="{FF2B5EF4-FFF2-40B4-BE49-F238E27FC236}">
                <a16:creationId xmlns:a16="http://schemas.microsoft.com/office/drawing/2014/main" id="{D013E5DC-1C7F-4071-A04E-E34BD061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ext-152">
            <a:extLst xmlns:a="http://schemas.openxmlformats.org/drawingml/2006/main">
              <a:ext uri="{FF2B5EF4-FFF2-40B4-BE49-F238E27FC236}">
                <a16:creationId xmlns:a16="http://schemas.microsoft.com/office/drawing/2014/main" id="{FD79A16F-0491-4A06-930A-F80E2BE2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这套系统的工作量，集中在“前端体验 + 后端数据 + 业务规则 + 可运行交付”四个层面。</a:t>
            </a:r>
          </a:p>
        </p:txBody>
      </p:sp>
      <p:sp>
        <p:nvSpPr>
          <p:cNvPr id="6" name="box-153">
            <a:extLst xmlns:a="http://schemas.openxmlformats.org/drawingml/2006/main">
              <a:ext uri="{FF2B5EF4-FFF2-40B4-BE49-F238E27FC236}">
                <a16:creationId xmlns:a16="http://schemas.microsoft.com/office/drawing/2014/main" id="{DD06C575-E090-4778-BE30-1AED1673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solidFill>
              <a:srgbClr val="F3F5F7"/>
            </a:solidFill>
            <a:prstDash val="solid"/>
          </a:ln>
        </p:spPr>
      </p:sp>
      <p:sp>
        <p:nvSpPr>
          <p:cNvPr id="7" name="text-154">
            <a:extLst xmlns:a="http://schemas.openxmlformats.org/drawingml/2006/main">
              <a:ext uri="{FF2B5EF4-FFF2-40B4-BE49-F238E27FC236}">
                <a16:creationId xmlns:a16="http://schemas.microsoft.com/office/drawing/2014/main" id="{2534BCCF-8659-4BF8-ACC3-6E3FF275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text-155">
            <a:extLst xmlns:a="http://schemas.openxmlformats.org/drawingml/2006/main">
              <a:ext uri="{FF2B5EF4-FFF2-40B4-BE49-F238E27FC236}">
                <a16:creationId xmlns:a16="http://schemas.microsoft.com/office/drawing/2014/main" id="{68117012-1490-4FB4-947C-59628F9D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类角色工作台</a:t>
            </a:r>
          </a:p>
        </p:txBody>
      </p:sp>
      <p:sp>
        <p:nvSpPr>
          <p:cNvPr id="9" name="text-156">
            <a:extLst xmlns:a="http://schemas.openxmlformats.org/drawingml/2006/main">
              <a:ext uri="{FF2B5EF4-FFF2-40B4-BE49-F238E27FC236}">
                <a16:creationId xmlns:a16="http://schemas.microsoft.com/office/drawing/2014/main" id="{5BC3DB02-6A07-4FF8-8711-7E573C14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让不同岗位进入自己的工作入口</a:t>
            </a:r>
          </a:p>
        </p:txBody>
      </p:sp>
      <p:sp>
        <p:nvSpPr>
          <p:cNvPr id="10" name="box-157">
            <a:extLst xmlns:a="http://schemas.openxmlformats.org/drawingml/2006/main">
              <a:ext uri="{FF2B5EF4-FFF2-40B4-BE49-F238E27FC236}">
                <a16:creationId xmlns:a16="http://schemas.microsoft.com/office/drawing/2014/main" id="{C74BA3C1-B087-4A3D-992A-0DB4FA9A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241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solidFill>
              <a:srgbClr val="F3F5F7"/>
            </a:solidFill>
            <a:prstDash val="solid"/>
          </a:ln>
        </p:spPr>
      </p:sp>
      <p:sp>
        <p:nvSpPr>
          <p:cNvPr id="11" name="text-158">
            <a:extLst xmlns:a="http://schemas.openxmlformats.org/drawingml/2006/main">
              <a:ext uri="{FF2B5EF4-FFF2-40B4-BE49-F238E27FC236}">
                <a16:creationId xmlns:a16="http://schemas.microsoft.com/office/drawing/2014/main" id="{A95715FB-D801-4E58-A67F-3AB77DE5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D46B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 i="0">
                <a:solidFill>
                  <a:srgbClr val="D46B0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text-159">
            <a:extLst xmlns:a="http://schemas.openxmlformats.org/drawingml/2006/main">
              <a:ext uri="{FF2B5EF4-FFF2-40B4-BE49-F238E27FC236}">
                <a16:creationId xmlns:a16="http://schemas.microsoft.com/office/drawing/2014/main" id="{5513C522-BF95-4102-806D-EF853E8B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个核心阶段</a:t>
            </a:r>
          </a:p>
        </p:txBody>
      </p:sp>
      <p:sp>
        <p:nvSpPr>
          <p:cNvPr id="13" name="text-160">
            <a:extLst xmlns:a="http://schemas.openxmlformats.org/drawingml/2006/main">
              <a:ext uri="{FF2B5EF4-FFF2-40B4-BE49-F238E27FC236}">
                <a16:creationId xmlns:a16="http://schemas.microsoft.com/office/drawing/2014/main" id="{106E9C5E-98EE-45C7-806D-C8D10DA9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33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机械设计、生产、调机、尾款</a:t>
            </a:r>
          </a:p>
        </p:txBody>
      </p:sp>
      <p:sp>
        <p:nvSpPr>
          <p:cNvPr id="14" name="box-161">
            <a:extLst xmlns:a="http://schemas.openxmlformats.org/drawingml/2006/main">
              <a:ext uri="{FF2B5EF4-FFF2-40B4-BE49-F238E27FC236}">
                <a16:creationId xmlns:a16="http://schemas.microsoft.com/office/drawing/2014/main" id="{61F1D063-8231-4FFE-AA1E-5C2BA7CC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solidFill>
              <a:srgbClr val="F3F5F7"/>
            </a:solidFill>
            <a:prstDash val="solid"/>
          </a:ln>
        </p:spPr>
      </p:sp>
      <p:sp>
        <p:nvSpPr>
          <p:cNvPr id="15" name="text-162">
            <a:extLst xmlns:a="http://schemas.openxmlformats.org/drawingml/2006/main">
              <a:ext uri="{FF2B5EF4-FFF2-40B4-BE49-F238E27FC236}">
                <a16:creationId xmlns:a16="http://schemas.microsoft.com/office/drawing/2014/main" id="{C91F023F-46D5-4C50-A29E-C33857DE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-163">
            <a:extLst xmlns:a="http://schemas.openxmlformats.org/drawingml/2006/main">
              <a:ext uri="{FF2B5EF4-FFF2-40B4-BE49-F238E27FC236}">
                <a16:creationId xmlns:a16="http://schemas.microsoft.com/office/drawing/2014/main" id="{2608605A-86B8-4C1B-BDC1-7DF89BC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052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套测试体系</a:t>
            </a:r>
          </a:p>
        </p:txBody>
      </p:sp>
      <p:sp>
        <p:nvSpPr>
          <p:cNvPr id="17" name="text-164">
            <a:extLst xmlns:a="http://schemas.openxmlformats.org/drawingml/2006/main">
              <a:ext uri="{FF2B5EF4-FFF2-40B4-BE49-F238E27FC236}">
                <a16:creationId xmlns:a16="http://schemas.microsoft.com/office/drawing/2014/main" id="{992E59CB-A906-43A3-8181-B4B295B9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后端 pytest + 前端 Vitest</a:t>
            </a:r>
          </a:p>
        </p:txBody>
      </p:sp>
      <p:sp>
        <p:nvSpPr>
          <p:cNvPr id="18" name="box-165">
            <a:extLst xmlns:a="http://schemas.openxmlformats.org/drawingml/2006/main">
              <a:ext uri="{FF2B5EF4-FFF2-40B4-BE49-F238E27FC236}">
                <a16:creationId xmlns:a16="http://schemas.microsoft.com/office/drawing/2014/main" id="{81110458-015D-4059-A9F8-3EC698BD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0">
            <a:solidFill>
              <a:srgbClr val="F3F5F7"/>
            </a:solidFill>
            <a:prstDash val="solid"/>
          </a:ln>
        </p:spPr>
      </p:sp>
      <p:sp>
        <p:nvSpPr>
          <p:cNvPr id="19" name="text-166">
            <a:extLst xmlns:a="http://schemas.openxmlformats.org/drawingml/2006/main">
              <a:ext uri="{FF2B5EF4-FFF2-40B4-BE49-F238E27FC236}">
                <a16:creationId xmlns:a16="http://schemas.microsoft.com/office/drawing/2014/main" id="{C9FD4321-7B9C-437E-8B8A-972E5BBF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text-167">
            <a:extLst xmlns:a="http://schemas.openxmlformats.org/drawingml/2006/main">
              <a:ext uri="{FF2B5EF4-FFF2-40B4-BE49-F238E27FC236}">
                <a16:creationId xmlns:a16="http://schemas.microsoft.com/office/drawing/2014/main" id="{4D1641A9-9A95-4403-BF31-A76CB4E7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052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键构建交付</a:t>
            </a:r>
          </a:p>
        </p:txBody>
      </p:sp>
      <p:sp>
        <p:nvSpPr>
          <p:cNvPr id="21" name="text-168">
            <a:extLst xmlns:a="http://schemas.openxmlformats.org/drawingml/2006/main">
              <a:ext uri="{FF2B5EF4-FFF2-40B4-BE49-F238E27FC236}">
                <a16:creationId xmlns:a16="http://schemas.microsoft.com/office/drawing/2014/main" id="{4ECCFCC4-7401-45B4-A3ED-8909029E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43350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前端构建、静态资源复制、程序打包</a:t>
            </a:r>
          </a:p>
        </p:txBody>
      </p:sp>
      <p:cxnSp>
        <p:nvCxnSpPr>
          <p:cNvPr id="46" name="line-169"/>
          <p:cNvCxnSpPr/>
          <p:nvPr/>
        </p:nvCxnSpPr>
        <p:spPr>
          <a:xfrm xmlns:a="http://schemas.openxmlformats.org/drawingml/2006/main">
            <a:off x="514350" y="52197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23" name="text-170">
            <a:extLst xmlns:a="http://schemas.openxmlformats.org/drawingml/2006/main">
              <a:ext uri="{FF2B5EF4-FFF2-40B4-BE49-F238E27FC236}">
                <a16:creationId xmlns:a16="http://schemas.microsoft.com/office/drawing/2014/main" id="{29F5AA15-B631-42F2-9EC1-FACB72C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当前代码规模证据：26 个后端 Python 文件 · 36 个前端 TS/TSX 文件 · 7 个测试文件</a:t>
            </a:r>
          </a:p>
        </p:txBody>
      </p:sp>
      <p:sp>
        <p:nvSpPr>
          <p:cNvPr id="24" name="text-171">
            <a:extLst xmlns:a="http://schemas.openxmlformats.org/drawingml/2006/main">
              <a:ext uri="{FF2B5EF4-FFF2-40B4-BE49-F238E27FC236}">
                <a16:creationId xmlns:a16="http://schemas.microsoft.com/office/drawing/2014/main" id="{FBB6920D-A0A9-4F52-8110-C4F4E597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531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这里的工作量不是功能堆叠，而是把管理经验变成可执行、可维护的系统能力。</a:t>
            </a:r>
          </a:p>
        </p:txBody>
      </p:sp>
    </p:spTree>
    <p:extLst>
      <p:ext uri="{BB962C8B-B14F-4D97-AF65-F5344CB8AC3E}">
        <p14:creationId xmlns:p14="http://schemas.microsoft.com/office/powerpoint/2010/main" val="1522237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172">
            <a:extLst xmlns:a="http://schemas.openxmlformats.org/drawingml/2006/main">
              <a:ext uri="{FF2B5EF4-FFF2-40B4-BE49-F238E27FC236}">
                <a16:creationId xmlns:a16="http://schemas.microsoft.com/office/drawing/2014/main" id="{BA249315-F300-49F0-BE38-D53E0D14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LUMI / PROJECT MANAGEMENT</a:t>
            </a:r>
          </a:p>
        </p:txBody>
      </p:sp>
      <p:sp>
        <p:nvSpPr>
          <p:cNvPr id="2" name="text-173">
            <a:extLst xmlns:a="http://schemas.openxmlformats.org/drawingml/2006/main">
              <a:ext uri="{FF2B5EF4-FFF2-40B4-BE49-F238E27FC236}">
                <a16:creationId xmlns:a16="http://schemas.microsoft.com/office/drawing/2014/main" id="{75240E8B-CB08-442C-8E81-E791B680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这套系统的价值，是让项目推进有统一语言</a:t>
            </a:r>
          </a:p>
        </p:txBody>
      </p:sp>
      <p:cxnSp>
        <p:nvCxnSpPr>
          <p:cNvPr id="22" name="line-174"/>
          <p:cNvCxnSpPr/>
          <p:nvPr/>
        </p:nvCxnSpPr>
        <p:spPr>
          <a:xfrm xmlns:a="http://schemas.openxmlformats.org/drawingml/2006/main">
            <a:off x="514350" y="1266825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4" name="text-175">
            <a:extLst xmlns:a="http://schemas.openxmlformats.org/drawingml/2006/main">
              <a:ext uri="{FF2B5EF4-FFF2-40B4-BE49-F238E27FC236}">
                <a16:creationId xmlns:a16="http://schemas.microsoft.com/office/drawing/2014/main" id="{CE4B41E0-E64C-4642-87BB-03502B0F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-176">
            <a:extLst xmlns:a="http://schemas.openxmlformats.org/drawingml/2006/main">
              <a:ext uri="{FF2B5EF4-FFF2-40B4-BE49-F238E27FC236}">
                <a16:creationId xmlns:a16="http://schemas.microsoft.com/office/drawing/2014/main" id="{0889DAEE-16A2-4B52-B673-807EB983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58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不是替代管理，而是让管理动作有统一入口，让项目状态有统一表达。</a:t>
            </a:r>
          </a:p>
        </p:txBody>
      </p:sp>
      <p:cxnSp>
        <p:nvCxnSpPr>
          <p:cNvPr id="25" name="line-177"/>
          <p:cNvCxnSpPr/>
          <p:nvPr/>
        </p:nvCxnSpPr>
        <p:spPr>
          <a:xfrm xmlns:a="http://schemas.openxmlformats.org/drawingml/2006/main">
            <a:off x="514350" y="28575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7FF"/>
            </a:solidFill>
            <a:prstDash val="solid"/>
          </a:ln>
        </p:spPr>
      </p:cxnSp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93110033-4322-40FE-8892-29C528D5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765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状态可见</a:t>
            </a:r>
          </a:p>
        </p:txBody>
      </p:sp>
      <p:sp>
        <p:nvSpPr>
          <p:cNvPr id="8" name="text-179">
            <a:extLst xmlns:a="http://schemas.openxmlformats.org/drawingml/2006/main">
              <a:ext uri="{FF2B5EF4-FFF2-40B4-BE49-F238E27FC236}">
                <a16:creationId xmlns:a16="http://schemas.microsoft.com/office/drawing/2014/main" id="{3BC8DAFC-F353-4CE2-9B54-55E42B2F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项目当前在哪个阶段，不再依赖询问和记忆。</a:t>
            </a:r>
          </a:p>
        </p:txBody>
      </p:sp>
      <p:cxnSp>
        <p:nvCxnSpPr>
          <p:cNvPr id="28" name="line-180"/>
          <p:cNvCxnSpPr/>
          <p:nvPr/>
        </p:nvCxnSpPr>
        <p:spPr>
          <a:xfrm xmlns:a="http://schemas.openxmlformats.org/drawingml/2006/main">
            <a:off x="4181475" y="28575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46B08"/>
            </a:solidFill>
            <a:prstDash val="solid"/>
          </a:ln>
        </p:spPr>
      </p:cxnSp>
      <p:sp>
        <p:nvSpPr>
          <p:cNvPr id="10" name="text-181">
            <a:extLst xmlns:a="http://schemas.openxmlformats.org/drawingml/2006/main">
              <a:ext uri="{FF2B5EF4-FFF2-40B4-BE49-F238E27FC236}">
                <a16:creationId xmlns:a16="http://schemas.microsoft.com/office/drawing/2014/main" id="{E77AD48E-3948-4739-AC83-75AE072E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765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46B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D46B08"/>
                </a:solidFill>
                <a:latin typeface="Microsoft YaHei"/>
                <a:ea typeface="Microsoft YaHei"/>
                <a:cs typeface="Microsoft YaHei"/>
              </a:rPr>
              <a:t>责任落位</a:t>
            </a:r>
          </a:p>
        </p:txBody>
      </p:sp>
      <p:sp>
        <p:nvSpPr>
          <p:cNvPr id="11" name="text-182">
            <a:extLst xmlns:a="http://schemas.openxmlformats.org/drawingml/2006/main">
              <a:ext uri="{FF2B5EF4-FFF2-40B4-BE49-F238E27FC236}">
                <a16:creationId xmlns:a16="http://schemas.microsoft.com/office/drawing/2014/main" id="{679ECCAD-07BD-45EC-94C7-9F722EFC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433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每个阶段对应岗位和人员，缺失分配可以被发现。</a:t>
            </a:r>
          </a:p>
        </p:txBody>
      </p:sp>
      <p:cxnSp>
        <p:nvCxnSpPr>
          <p:cNvPr id="31" name="line-183"/>
          <p:cNvCxnSpPr/>
          <p:nvPr/>
        </p:nvCxnSpPr>
        <p:spPr>
          <a:xfrm xmlns:a="http://schemas.openxmlformats.org/drawingml/2006/main">
            <a:off x="7848600" y="28575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E9B63"/>
            </a:solidFill>
            <a:prstDash val="solid"/>
          </a:ln>
        </p:spPr>
      </p:cxnSp>
      <p:sp>
        <p:nvSpPr>
          <p:cNvPr id="13" name="text-184">
            <a:extLst xmlns:a="http://schemas.openxmlformats.org/drawingml/2006/main">
              <a:ext uri="{FF2B5EF4-FFF2-40B4-BE49-F238E27FC236}">
                <a16:creationId xmlns:a16="http://schemas.microsoft.com/office/drawing/2014/main" id="{15BA8295-B11B-4905-8537-CFEEAE90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765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E9B63"/>
                </a:solidFill>
                <a:latin typeface="Microsoft YaHei"/>
                <a:ea typeface="Microsoft YaHei"/>
                <a:cs typeface="Microsoft YaHei"/>
              </a:rPr>
              <a:t>风险前置</a:t>
            </a:r>
          </a:p>
        </p:txBody>
      </p:sp>
      <p:sp>
        <p:nvSpPr>
          <p:cNvPr id="14" name="text-185">
            <a:extLst xmlns:a="http://schemas.openxmlformats.org/drawingml/2006/main">
              <a:ext uri="{FF2B5EF4-FFF2-40B4-BE49-F238E27FC236}">
                <a16:creationId xmlns:a16="http://schemas.microsoft.com/office/drawing/2014/main" id="{5CDD4D79-A4C8-4264-8FCE-250D2C06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交期、逾期、协议和尾款节点在项目过程中被提醒。</a:t>
            </a:r>
          </a:p>
        </p:txBody>
      </p:sp>
      <p:cxnSp>
        <p:nvCxnSpPr>
          <p:cNvPr id="34" name="line-186"/>
          <p:cNvCxnSpPr/>
          <p:nvPr/>
        </p:nvCxnSpPr>
        <p:spPr>
          <a:xfrm xmlns:a="http://schemas.openxmlformats.org/drawingml/2006/main">
            <a:off x="514350" y="48006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7"/>
            </a:solidFill>
            <a:prstDash val="solid"/>
          </a:ln>
        </p:spPr>
      </p:cxnSp>
      <p:sp>
        <p:nvSpPr>
          <p:cNvPr id="16" name="text-187">
            <a:extLst xmlns:a="http://schemas.openxmlformats.org/drawingml/2006/main">
              <a:ext uri="{FF2B5EF4-FFF2-40B4-BE49-F238E27FC236}">
                <a16:creationId xmlns:a16="http://schemas.microsoft.com/office/drawing/2014/main" id="{B915B9ED-21E6-42F4-85AA-48FE4148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本期已完成</a:t>
            </a:r>
          </a:p>
        </p:txBody>
      </p:sp>
      <p:sp>
        <p:nvSpPr>
          <p:cNvPr id="17" name="text-188">
            <a:extLst xmlns:a="http://schemas.openxmlformats.org/drawingml/2006/main">
              <a:ext uri="{FF2B5EF4-FFF2-40B4-BE49-F238E27FC236}">
                <a16:creationId xmlns:a16="http://schemas.microsoft.com/office/drawing/2014/main" id="{864FE39D-FE66-4872-8D17-ED05F0A4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673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角色工作台 · 项目卡片 · 项目主页 · 阶段管理 · 收款与预警 · 权限与打包交付</a:t>
            </a:r>
          </a:p>
        </p:txBody>
      </p:sp>
      <p:sp>
        <p:nvSpPr>
          <p:cNvPr id="18" name="text-189">
            <a:extLst xmlns:a="http://schemas.openxmlformats.org/drawingml/2006/main">
              <a:ext uri="{FF2B5EF4-FFF2-40B4-BE49-F238E27FC236}">
                <a16:creationId xmlns:a16="http://schemas.microsoft.com/office/drawing/2014/main" id="{FE8AA955-F4D6-405B-8D6D-550D8770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下一步：在实际使用中继续沉淀数据，逐步补充提醒、统计和历史分析能力。</a:t>
            </a:r>
          </a:p>
        </p:txBody>
      </p:sp>
      <p:sp>
        <p:nvSpPr>
          <p:cNvPr id="19" name="text-190">
            <a:extLst xmlns:a="http://schemas.openxmlformats.org/drawingml/2006/main">
              <a:ext uri="{FF2B5EF4-FFF2-40B4-BE49-F238E27FC236}">
                <a16:creationId xmlns:a16="http://schemas.microsoft.com/office/drawing/2014/main" id="{5B3CCA9F-7CB0-4CF3-9F0C-0FEF0E49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5317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Lumi 项目管理系统 / 汇报结束</a:t>
            </a:r>
          </a:p>
        </p:txBody>
      </p:sp>
    </p:spTree>
    <p:extLst>
      <p:ext uri="{BB962C8B-B14F-4D97-AF65-F5344CB8AC3E}">
        <p14:creationId xmlns:p14="http://schemas.microsoft.com/office/powerpoint/2010/main" val="269171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2026-08-16T09:24:15.7240000Z</dcterms:created>
  <dcterms:modified xsi:type="dcterms:W3CDTF">2026-08-16T09:24:15.7240000Z</dcterms:modified>
</coreProperties>
</file>